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D13"/>
    <a:srgbClr val="6596D1"/>
    <a:srgbClr val="417EC7"/>
    <a:srgbClr val="346BAE"/>
    <a:srgbClr val="3165A5"/>
    <a:srgbClr val="E43F5A"/>
    <a:srgbClr val="214571"/>
    <a:srgbClr val="1E3E64"/>
    <a:srgbClr val="1F4068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38" autoAdjust="0"/>
    <p:restoredTop sz="94660"/>
  </p:normalViewPr>
  <p:slideViewPr>
    <p:cSldViewPr snapToGrid="0">
      <p:cViewPr>
        <p:scale>
          <a:sx n="50" d="100"/>
          <a:sy n="50" d="100"/>
        </p:scale>
        <p:origin x="77" y="6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5ECFD3E-A99F-44BD-A0BF-DC3A0CF95C6A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1B2BA13-F298-4171-8884-BD82470ABF1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06108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2BA13-F298-4171-8884-BD82470ABF1D}" type="slidenum">
              <a:rPr lang="ar-EG" smtClean="0"/>
              <a:t>1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62416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2BA13-F298-4171-8884-BD82470ABF1D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0532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031875" y="1964267"/>
            <a:ext cx="7197726" cy="2421464"/>
          </a:xfrm>
        </p:spPr>
        <p:txBody>
          <a:bodyPr anchor="b">
            <a:normAutofit/>
          </a:bodyPr>
          <a:lstStyle>
            <a:lvl1pPr algn="l" rtl="1">
              <a:defRPr sz="4800">
                <a:effectLst/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1031875" y="4385732"/>
            <a:ext cx="7197726" cy="1405467"/>
          </a:xfrm>
        </p:spPr>
        <p:txBody>
          <a:bodyPr anchor="t">
            <a:normAutofit/>
          </a:bodyPr>
          <a:lstStyle>
            <a:lvl1pPr marL="0" indent="0" algn="l" rtl="1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659242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335643" y="5870575"/>
            <a:ext cx="4893958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031875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374774" y="2142067"/>
            <a:ext cx="10131425" cy="3649133"/>
          </a:xfrm>
        </p:spPr>
        <p:txBody>
          <a:bodyPr anchor="ctr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3" y="3308581"/>
            <a:ext cx="10131427" cy="1468800"/>
          </a:xfrm>
        </p:spPr>
        <p:txBody>
          <a:bodyPr anchor="b"/>
          <a:lstStyle>
            <a:lvl1pPr algn="r" rtl="1">
              <a:defRPr sz="4000" b="0" cap="all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4773" y="4777381"/>
            <a:ext cx="10131428" cy="8604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6510864" y="2142067"/>
            <a:ext cx="4995334" cy="3649134"/>
          </a:xfrm>
        </p:spPr>
        <p:txBody>
          <a:bodyPr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1374773" y="2142067"/>
            <a:ext cx="4995332" cy="3649133"/>
          </a:xfrm>
        </p:spPr>
        <p:txBody>
          <a:bodyPr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6509276" y="2218267"/>
            <a:ext cx="4709054" cy="576262"/>
          </a:xfrm>
        </p:spPr>
        <p:txBody>
          <a:bodyPr anchor="b">
            <a:noAutofit/>
          </a:bodyPr>
          <a:lstStyle>
            <a:lvl1pPr marL="0" indent="0" algn="r" rtl="1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6509276" y="2870201"/>
            <a:ext cx="4996923" cy="2920998"/>
          </a:xfrm>
        </p:spPr>
        <p:txBody>
          <a:bodyPr anchor="t"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1373184" y="2226734"/>
            <a:ext cx="4722813" cy="576262"/>
          </a:xfrm>
        </p:spPr>
        <p:txBody>
          <a:bodyPr anchor="b">
            <a:noAutofit/>
          </a:bodyPr>
          <a:lstStyle>
            <a:lvl1pPr marL="0" indent="0" algn="r" rtl="1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 flipH="1">
            <a:off x="1373183" y="2870201"/>
            <a:ext cx="4995334" cy="2920998"/>
          </a:xfrm>
        </p:spPr>
        <p:txBody>
          <a:bodyPr anchor="t"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825315" y="2074333"/>
            <a:ext cx="3680885" cy="1371600"/>
          </a:xfrm>
        </p:spPr>
        <p:txBody>
          <a:bodyPr anchor="b">
            <a:normAutofit/>
          </a:bodyPr>
          <a:lstStyle>
            <a:lvl1pPr algn="r" rtl="1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374773" y="609601"/>
            <a:ext cx="6169026" cy="5181600"/>
          </a:xfrm>
        </p:spPr>
        <p:txBody>
          <a:bodyPr anchor="ctr"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825315" y="3445933"/>
            <a:ext cx="3680885" cy="18288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341547" y="1600200"/>
            <a:ext cx="6164653" cy="1371600"/>
          </a:xfrm>
        </p:spPr>
        <p:txBody>
          <a:bodyPr anchor="b">
            <a:normAutofit/>
          </a:bodyPr>
          <a:lstStyle>
            <a:lvl1pPr algn="r" rtl="1">
              <a:defRPr sz="2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37477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 rtl="1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5341547" y="2971800"/>
            <a:ext cx="6164653" cy="18288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3" y="4732865"/>
            <a:ext cx="10131427" cy="566738"/>
          </a:xfrm>
        </p:spPr>
        <p:txBody>
          <a:bodyPr anchor="b">
            <a:normAutofit/>
          </a:bodyPr>
          <a:lstStyle>
            <a:lvl1pPr algn="r" rtl="1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2060573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 rtl="1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374773" y="5299603"/>
            <a:ext cx="10131427" cy="493712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2" y="609601"/>
            <a:ext cx="10131427" cy="3124199"/>
          </a:xfrm>
        </p:spPr>
        <p:txBody>
          <a:bodyPr anchor="ctr">
            <a:normAutofit/>
          </a:bodyPr>
          <a:lstStyle>
            <a:lvl1pPr algn="r" rtl="1">
              <a:defRPr sz="32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4772" y="4343400"/>
            <a:ext cx="10131428" cy="1447800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flipH="1">
            <a:off x="134453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 flipH="1">
            <a:off x="110941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649334" y="609601"/>
            <a:ext cx="9550399" cy="2743199"/>
          </a:xfrm>
        </p:spPr>
        <p:txBody>
          <a:bodyPr anchor="ctr">
            <a:normAutofit/>
          </a:bodyPr>
          <a:lstStyle>
            <a:lvl1pPr algn="r" rtl="1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 flipH="1">
            <a:off x="1754941" y="3352800"/>
            <a:ext cx="9339184" cy="381000"/>
          </a:xfrm>
        </p:spPr>
        <p:txBody>
          <a:bodyPr anchor="ctr"/>
          <a:lstStyle>
            <a:lvl1pPr marL="0" indent="0" algn="r" rtl="1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52168" y="4343400"/>
            <a:ext cx="10152367" cy="1447800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3" y="3308581"/>
            <a:ext cx="10131425" cy="1468800"/>
          </a:xfrm>
        </p:spPr>
        <p:txBody>
          <a:bodyPr anchor="b">
            <a:normAutofit/>
          </a:bodyPr>
          <a:lstStyle>
            <a:lvl1pPr algn="r" rtl="1">
              <a:defRPr sz="32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4773" y="4777381"/>
            <a:ext cx="10131426" cy="8604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 ذات اقتبا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flipH="1">
            <a:off x="134453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110941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 flipH="1">
            <a:off x="1649334" y="609601"/>
            <a:ext cx="9550399" cy="2743199"/>
          </a:xfrm>
        </p:spPr>
        <p:txBody>
          <a:bodyPr anchor="ctr">
            <a:normAutofit/>
          </a:bodyPr>
          <a:lstStyle>
            <a:lvl1pPr algn="r" rtl="1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 flipH="1">
            <a:off x="1370764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 rtl="1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0765" y="4775200"/>
            <a:ext cx="10135436" cy="10160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اب أو خط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374772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 algn="r" rtl="1">
              <a:defRPr lang="en-US" b="0" dirty="0"/>
            </a:lvl1pPr>
          </a:lstStyle>
          <a:p>
            <a:pPr marL="0" lvl="0"/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 flipH="1">
            <a:off x="137477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 algn="r" rtl="1"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4772" y="4343400"/>
            <a:ext cx="10131428" cy="1447800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1374774" y="2142067"/>
            <a:ext cx="10131425" cy="3649133"/>
          </a:xfrm>
        </p:spPr>
        <p:txBody>
          <a:bodyPr vert="eaVert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5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flipH="1">
            <a:off x="1374773" y="609599"/>
            <a:ext cx="2158552" cy="5181601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3674084" y="609600"/>
            <a:ext cx="7832116" cy="5181600"/>
          </a:xfrm>
        </p:spPr>
        <p:txBody>
          <a:bodyPr vert="eaVert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002140" y="5870575"/>
            <a:ext cx="1600200" cy="377825"/>
          </a:xfrm>
        </p:spPr>
        <p:txBody>
          <a:bodyPr/>
          <a:lstStyle>
            <a:lvl1pPr algn="l" rtl="1">
              <a:defRPr/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3678541" y="5870575"/>
            <a:ext cx="7827659" cy="3778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374773" y="5870575"/>
            <a:ext cx="551167" cy="377825"/>
          </a:xfrm>
        </p:spPr>
        <p:txBody>
          <a:bodyPr/>
          <a:lstStyle>
            <a:lvl1pPr algn="l" rtl="1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1374774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374774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200214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3678541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1374773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r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5.jpe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14.jpg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3.jpg"/><Relationship Id="rId5" Type="http://schemas.openxmlformats.org/officeDocument/2006/relationships/image" Target="../media/image8.svg"/><Relationship Id="rId15" Type="http://schemas.openxmlformats.org/officeDocument/2006/relationships/image" Target="../media/image17.jpg"/><Relationship Id="rId10" Type="http://schemas.microsoft.com/office/2007/relationships/hdphoto" Target="../media/hdphoto2.wdp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svg"/><Relationship Id="rId3" Type="http://schemas.microsoft.com/office/2007/relationships/hdphoto" Target="../media/hdphoto2.wdp"/><Relationship Id="rId7" Type="http://schemas.openxmlformats.org/officeDocument/2006/relationships/image" Target="../media/image15.jpeg"/><Relationship Id="rId12" Type="http://schemas.openxmlformats.org/officeDocument/2006/relationships/image" Target="../media/image6.svg"/><Relationship Id="rId17" Type="http://schemas.openxmlformats.org/officeDocument/2006/relationships/image" Target="../media/image11.svg"/><Relationship Id="rId2" Type="http://schemas.openxmlformats.org/officeDocument/2006/relationships/image" Target="../media/image19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5.png"/><Relationship Id="rId5" Type="http://schemas.openxmlformats.org/officeDocument/2006/relationships/image" Target="../media/image13.jpg"/><Relationship Id="rId15" Type="http://schemas.openxmlformats.org/officeDocument/2006/relationships/image" Target="../media/image9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jpg"/><Relationship Id="rId1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microsoft.com/office/2007/relationships/hdphoto" Target="../media/hdphoto3.wdp"/><Relationship Id="rId7" Type="http://schemas.openxmlformats.org/officeDocument/2006/relationships/image" Target="../media/image14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microsoft.com/office/2007/relationships/hdphoto" Target="../media/hdphoto2.wdp"/><Relationship Id="rId10" Type="http://schemas.openxmlformats.org/officeDocument/2006/relationships/image" Target="../media/image17.jp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microsoft.com/office/2007/relationships/hdphoto" Target="../media/hdphoto4.wdp"/><Relationship Id="rId7" Type="http://schemas.openxmlformats.org/officeDocument/2006/relationships/image" Target="../media/image14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microsoft.com/office/2007/relationships/hdphoto" Target="../media/hdphoto2.wdp"/><Relationship Id="rId10" Type="http://schemas.openxmlformats.org/officeDocument/2006/relationships/image" Target="../media/image17.jp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microsoft.com/office/2007/relationships/hdphoto" Target="../media/hdphoto5.wdp"/><Relationship Id="rId7" Type="http://schemas.openxmlformats.org/officeDocument/2006/relationships/image" Target="../media/image14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microsoft.com/office/2007/relationships/hdphoto" Target="../media/hdphoto2.wdp"/><Relationship Id="rId10" Type="http://schemas.openxmlformats.org/officeDocument/2006/relationships/image" Target="../media/image17.jp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png"/><Relationship Id="rId3" Type="http://schemas.microsoft.com/office/2007/relationships/hdphoto" Target="../media/hdphoto6.wdp"/><Relationship Id="rId7" Type="http://schemas.microsoft.com/office/2007/relationships/hdphoto" Target="../media/hdphoto2.wdp"/><Relationship Id="rId12" Type="http://schemas.openxmlformats.org/officeDocument/2006/relationships/image" Target="../media/image17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microsoft.com/office/2007/relationships/hdphoto" Target="../media/hdphoto7.wdp"/><Relationship Id="rId10" Type="http://schemas.openxmlformats.org/officeDocument/2006/relationships/image" Target="../media/image15.jpeg"/><Relationship Id="rId4" Type="http://schemas.openxmlformats.org/officeDocument/2006/relationships/image" Target="../media/image24.png"/><Relationship Id="rId9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microsoft.com/office/2007/relationships/hdphoto" Target="../media/hdphoto8.wdp"/><Relationship Id="rId7" Type="http://schemas.openxmlformats.org/officeDocument/2006/relationships/image" Target="../media/image14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microsoft.com/office/2007/relationships/hdphoto" Target="../media/hdphoto2.wdp"/><Relationship Id="rId10" Type="http://schemas.openxmlformats.org/officeDocument/2006/relationships/image" Target="../media/image17.jp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microsoft.com/office/2007/relationships/hdphoto" Target="../media/hdphoto9.wdp"/><Relationship Id="rId7" Type="http://schemas.openxmlformats.org/officeDocument/2006/relationships/image" Target="../media/image14.jpg"/><Relationship Id="rId12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microsoft.com/office/2007/relationships/hdphoto" Target="../media/hdphoto2.wdp"/><Relationship Id="rId10" Type="http://schemas.openxmlformats.org/officeDocument/2006/relationships/image" Target="../media/image17.jp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7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6000"/>
                    </a14:imgEffect>
                    <a14:imgEffect>
                      <a14:brightnessContrast bright="8000" contrast="-18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شكل بيضاوي 3">
            <a:extLst>
              <a:ext uri="{FF2B5EF4-FFF2-40B4-BE49-F238E27FC236}">
                <a16:creationId xmlns:a16="http://schemas.microsoft.com/office/drawing/2014/main" id="{378600B8-C971-3886-144A-B0E7BE13FB06}"/>
              </a:ext>
            </a:extLst>
          </p:cNvPr>
          <p:cNvSpPr/>
          <p:nvPr/>
        </p:nvSpPr>
        <p:spPr>
          <a:xfrm>
            <a:off x="-2942492" y="-5609492"/>
            <a:ext cx="18076984" cy="18076984"/>
          </a:xfrm>
          <a:prstGeom prst="ellipse">
            <a:avLst/>
          </a:prstGeom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 useBgFill="1">
        <p:nvSpPr>
          <p:cNvPr id="9" name="شكل بيضاوي 8">
            <a:extLst>
              <a:ext uri="{FF2B5EF4-FFF2-40B4-BE49-F238E27FC236}">
                <a16:creationId xmlns:a16="http://schemas.microsoft.com/office/drawing/2014/main" id="{6AAD0FBE-CCC9-381A-9692-D4BD85021CBC}"/>
              </a:ext>
            </a:extLst>
          </p:cNvPr>
          <p:cNvSpPr/>
          <p:nvPr/>
        </p:nvSpPr>
        <p:spPr>
          <a:xfrm>
            <a:off x="-879598" y="-3546598"/>
            <a:ext cx="13951195" cy="13951195"/>
          </a:xfrm>
          <a:prstGeom prst="ellipse">
            <a:avLst/>
          </a:prstGeom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 useBgFill="1">
        <p:nvSpPr>
          <p:cNvPr id="10" name="شكل بيضاوي 9">
            <a:extLst>
              <a:ext uri="{FF2B5EF4-FFF2-40B4-BE49-F238E27FC236}">
                <a16:creationId xmlns:a16="http://schemas.microsoft.com/office/drawing/2014/main" id="{57349B89-78CE-60A8-0FAC-C84B5F8DAB40}"/>
              </a:ext>
            </a:extLst>
          </p:cNvPr>
          <p:cNvSpPr/>
          <p:nvPr/>
        </p:nvSpPr>
        <p:spPr>
          <a:xfrm>
            <a:off x="1370867" y="-1296133"/>
            <a:ext cx="9450266" cy="9450266"/>
          </a:xfrm>
          <a:prstGeom prst="ellipse">
            <a:avLst/>
          </a:prstGeom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 useBgFill="1">
        <p:nvSpPr>
          <p:cNvPr id="11" name="شكل بيضاوي 10">
            <a:extLst>
              <a:ext uri="{FF2B5EF4-FFF2-40B4-BE49-F238E27FC236}">
                <a16:creationId xmlns:a16="http://schemas.microsoft.com/office/drawing/2014/main" id="{30AE82A3-F0AE-94C5-815E-2AFADC42F422}"/>
              </a:ext>
            </a:extLst>
          </p:cNvPr>
          <p:cNvSpPr/>
          <p:nvPr/>
        </p:nvSpPr>
        <p:spPr>
          <a:xfrm>
            <a:off x="3287956" y="620956"/>
            <a:ext cx="5616087" cy="5616087"/>
          </a:xfrm>
          <a:prstGeom prst="ellipse">
            <a:avLst/>
          </a:prstGeom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2586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21000">
              <a:schemeClr val="accent6">
                <a:lumMod val="75000"/>
              </a:schemeClr>
            </a:gs>
            <a:gs pos="67000">
              <a:srgbClr val="100B10">
                <a:alpha val="99000"/>
                <a:lumMod val="82000"/>
              </a:srgbClr>
            </a:gs>
            <a:gs pos="100000">
              <a:srgbClr val="0C090D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5943F-960E-7BAC-0FB1-67AFD430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مربع نص 1">
            <a:extLst>
              <a:ext uri="{FF2B5EF4-FFF2-40B4-BE49-F238E27FC236}">
                <a16:creationId xmlns:a16="http://schemas.microsoft.com/office/drawing/2014/main" id="{CCC09664-7AAF-1682-6583-5297D330186E}"/>
              </a:ext>
            </a:extLst>
          </p:cNvPr>
          <p:cNvSpPr txBox="1"/>
          <p:nvPr/>
        </p:nvSpPr>
        <p:spPr>
          <a:xfrm>
            <a:off x="1999096" y="788254"/>
            <a:ext cx="8158316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600" dirty="0">
                <a:latin typeface="Century" panose="02040604050505020304" pitchFamily="18" charset="0"/>
              </a:rPr>
              <a:t> Classic timed bomb</a:t>
            </a:r>
            <a:endParaRPr lang="ar-EG" sz="6600" dirty="0">
              <a:latin typeface="Century" panose="02040604050505020304" pitchFamily="18" charset="0"/>
            </a:endParaRPr>
          </a:p>
        </p:txBody>
      </p:sp>
      <p:sp>
        <p:nvSpPr>
          <p:cNvPr id="57" name="شكل بيضاوي 56">
            <a:extLst>
              <a:ext uri="{FF2B5EF4-FFF2-40B4-BE49-F238E27FC236}">
                <a16:creationId xmlns:a16="http://schemas.microsoft.com/office/drawing/2014/main" id="{E30E810E-1A12-217D-5737-7CB3548E9AB0}"/>
              </a:ext>
            </a:extLst>
          </p:cNvPr>
          <p:cNvSpPr/>
          <p:nvPr/>
        </p:nvSpPr>
        <p:spPr>
          <a:xfrm rot="5400000">
            <a:off x="-2942492" y="-5609492"/>
            <a:ext cx="18076984" cy="18076984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8" name="شكل بيضاوي 57">
            <a:extLst>
              <a:ext uri="{FF2B5EF4-FFF2-40B4-BE49-F238E27FC236}">
                <a16:creationId xmlns:a16="http://schemas.microsoft.com/office/drawing/2014/main" id="{354DEE3B-2A1D-A997-86B5-58D91906614A}"/>
              </a:ext>
            </a:extLst>
          </p:cNvPr>
          <p:cNvSpPr/>
          <p:nvPr/>
        </p:nvSpPr>
        <p:spPr>
          <a:xfrm rot="3191795">
            <a:off x="-879598" y="-3546598"/>
            <a:ext cx="13951195" cy="13951195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59" name="شكل بيضاوي 58">
            <a:extLst>
              <a:ext uri="{FF2B5EF4-FFF2-40B4-BE49-F238E27FC236}">
                <a16:creationId xmlns:a16="http://schemas.microsoft.com/office/drawing/2014/main" id="{E2ED8C51-40DD-9F23-A37C-CF5E137F36F1}"/>
              </a:ext>
            </a:extLst>
          </p:cNvPr>
          <p:cNvSpPr/>
          <p:nvPr/>
        </p:nvSpPr>
        <p:spPr>
          <a:xfrm rot="16200000">
            <a:off x="1370867" y="-1296133"/>
            <a:ext cx="9450266" cy="9450266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60" name="شكل بيضاوي 59">
            <a:extLst>
              <a:ext uri="{FF2B5EF4-FFF2-40B4-BE49-F238E27FC236}">
                <a16:creationId xmlns:a16="http://schemas.microsoft.com/office/drawing/2014/main" id="{39B9EC01-6677-0024-663A-8784C60E5A27}"/>
              </a:ext>
            </a:extLst>
          </p:cNvPr>
          <p:cNvSpPr/>
          <p:nvPr/>
        </p:nvSpPr>
        <p:spPr>
          <a:xfrm rot="10800000">
            <a:off x="3287956" y="620956"/>
            <a:ext cx="5616087" cy="5616087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6E8C55-7537-451E-FD6B-CB22CC9BF7D1}"/>
              </a:ext>
            </a:extLst>
          </p:cNvPr>
          <p:cNvSpPr txBox="1"/>
          <p:nvPr/>
        </p:nvSpPr>
        <p:spPr>
          <a:xfrm>
            <a:off x="3106203" y="2063549"/>
            <a:ext cx="6587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Interactive Bare-Metal Application using ATmega32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49E888-C352-B54B-27EB-88DA8B8CEF04}"/>
              </a:ext>
            </a:extLst>
          </p:cNvPr>
          <p:cNvSpPr txBox="1"/>
          <p:nvPr/>
        </p:nvSpPr>
        <p:spPr>
          <a:xfrm>
            <a:off x="7837253" y="5348949"/>
            <a:ext cx="380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Made by: Mohamed Samir Khamis</a:t>
            </a:r>
          </a:p>
          <a:p>
            <a:r>
              <a:rPr lang="en-US" dirty="0"/>
              <a:t>Major: Communication and Electronics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6DC524-CED7-B014-C5A5-35A29CAD415B}"/>
              </a:ext>
            </a:extLst>
          </p:cNvPr>
          <p:cNvSpPr txBox="1"/>
          <p:nvPr/>
        </p:nvSpPr>
        <p:spPr>
          <a:xfrm>
            <a:off x="380941" y="5436413"/>
            <a:ext cx="2610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Instructor: Ziad </a:t>
            </a:r>
            <a:r>
              <a:rPr lang="en-US" dirty="0" err="1"/>
              <a:t>Elmekawy</a:t>
            </a:r>
            <a:endParaRPr lang="en-US" dirty="0"/>
          </a:p>
          <a:p>
            <a:r>
              <a:rPr lang="en-US" dirty="0"/>
              <a:t>Assistant: Ahmed Azab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BDEF53-C9D4-D002-8FD1-114DB75E3555}"/>
              </a:ext>
            </a:extLst>
          </p:cNvPr>
          <p:cNvSpPr txBox="1"/>
          <p:nvPr/>
        </p:nvSpPr>
        <p:spPr>
          <a:xfrm>
            <a:off x="3472613" y="3337120"/>
            <a:ext cx="5943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Final graduation project for ITI embedded systems AVR </a:t>
            </a:r>
          </a:p>
        </p:txBody>
      </p:sp>
      <p:sp>
        <p:nvSpPr>
          <p:cNvPr id="43" name="مربع نص 2">
            <a:extLst>
              <a:ext uri="{FF2B5EF4-FFF2-40B4-BE49-F238E27FC236}">
                <a16:creationId xmlns:a16="http://schemas.microsoft.com/office/drawing/2014/main" id="{73819D32-FFFC-E104-1F69-B7E4544536B8}"/>
              </a:ext>
            </a:extLst>
          </p:cNvPr>
          <p:cNvSpPr txBox="1"/>
          <p:nvPr/>
        </p:nvSpPr>
        <p:spPr>
          <a:xfrm>
            <a:off x="-6841617" y="38984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F4068"/>
                </a:solidFill>
                <a:cs typeface="+mj-cs"/>
              </a:rPr>
              <a:t>1</a:t>
            </a:r>
          </a:p>
        </p:txBody>
      </p:sp>
      <p:sp>
        <p:nvSpPr>
          <p:cNvPr id="44" name="مربع نص 7">
            <a:extLst>
              <a:ext uri="{FF2B5EF4-FFF2-40B4-BE49-F238E27FC236}">
                <a16:creationId xmlns:a16="http://schemas.microsoft.com/office/drawing/2014/main" id="{4006F7CF-638C-6141-54A9-79447C940154}"/>
              </a:ext>
            </a:extLst>
          </p:cNvPr>
          <p:cNvSpPr txBox="1"/>
          <p:nvPr/>
        </p:nvSpPr>
        <p:spPr>
          <a:xfrm>
            <a:off x="-6789152" y="8664241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E3E64"/>
                </a:solidFill>
                <a:cs typeface="+mj-cs"/>
              </a:rPr>
              <a:t>2</a:t>
            </a:r>
            <a:endParaRPr lang="ar-EG" sz="9600" dirty="0">
              <a:solidFill>
                <a:srgbClr val="1E3E64"/>
              </a:solidFill>
              <a:cs typeface="+mj-cs"/>
            </a:endParaRPr>
          </a:p>
        </p:txBody>
      </p:sp>
      <p:sp>
        <p:nvSpPr>
          <p:cNvPr id="45" name="مربع نص 8">
            <a:extLst>
              <a:ext uri="{FF2B5EF4-FFF2-40B4-BE49-F238E27FC236}">
                <a16:creationId xmlns:a16="http://schemas.microsoft.com/office/drawing/2014/main" id="{BDB8EA65-5FC7-01C8-8F6C-CA3A15EC3A56}"/>
              </a:ext>
            </a:extLst>
          </p:cNvPr>
          <p:cNvSpPr txBox="1"/>
          <p:nvPr/>
        </p:nvSpPr>
        <p:spPr>
          <a:xfrm>
            <a:off x="16033328" y="11732975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165A5"/>
                </a:solidFill>
                <a:cs typeface="+mj-cs"/>
              </a:rPr>
              <a:t>4</a:t>
            </a:r>
            <a:endParaRPr lang="ar-EG" sz="8800" dirty="0">
              <a:solidFill>
                <a:srgbClr val="3165A5"/>
              </a:solidFill>
              <a:cs typeface="+mj-cs"/>
            </a:endParaRPr>
          </a:p>
        </p:txBody>
      </p:sp>
      <p:sp>
        <p:nvSpPr>
          <p:cNvPr id="53" name="مربع نص 9">
            <a:extLst>
              <a:ext uri="{FF2B5EF4-FFF2-40B4-BE49-F238E27FC236}">
                <a16:creationId xmlns:a16="http://schemas.microsoft.com/office/drawing/2014/main" id="{2B2343B2-7A1D-8EC0-EA0C-CE80437B43D0}"/>
              </a:ext>
            </a:extLst>
          </p:cNvPr>
          <p:cNvSpPr txBox="1"/>
          <p:nvPr/>
        </p:nvSpPr>
        <p:spPr>
          <a:xfrm>
            <a:off x="2905136" y="12295724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214571"/>
                </a:solidFill>
                <a:latin typeface="Aptos Light" panose="020F0502020204030204" pitchFamily="34" charset="0"/>
                <a:cs typeface="+mj-cs"/>
              </a:rPr>
              <a:t>3</a:t>
            </a:r>
            <a:endParaRPr lang="ar-EG" sz="8800" dirty="0">
              <a:solidFill>
                <a:srgbClr val="214571"/>
              </a:solidFill>
              <a:latin typeface="Aptos Light" panose="020F0502020204030204" pitchFamily="34" charset="0"/>
              <a:cs typeface="+mj-cs"/>
            </a:endParaRPr>
          </a:p>
        </p:txBody>
      </p:sp>
      <p:sp>
        <p:nvSpPr>
          <p:cNvPr id="54" name="مربع نص 10">
            <a:extLst>
              <a:ext uri="{FF2B5EF4-FFF2-40B4-BE49-F238E27FC236}">
                <a16:creationId xmlns:a16="http://schemas.microsoft.com/office/drawing/2014/main" id="{3C7ADF78-55BF-BE76-BE66-7D3C00F05BBF}"/>
              </a:ext>
            </a:extLst>
          </p:cNvPr>
          <p:cNvSpPr txBox="1"/>
          <p:nvPr/>
        </p:nvSpPr>
        <p:spPr>
          <a:xfrm>
            <a:off x="20728057" y="342900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46BAE"/>
                </a:solidFill>
                <a:cs typeface="+mj-cs"/>
              </a:rPr>
              <a:t>5</a:t>
            </a:r>
            <a:endParaRPr lang="ar-EG" sz="8800" dirty="0">
              <a:solidFill>
                <a:srgbClr val="346BAE"/>
              </a:solidFill>
              <a:cs typeface="+mj-cs"/>
            </a:endParaRPr>
          </a:p>
        </p:txBody>
      </p:sp>
      <p:sp>
        <p:nvSpPr>
          <p:cNvPr id="55" name="مربع نص 18">
            <a:extLst>
              <a:ext uri="{FF2B5EF4-FFF2-40B4-BE49-F238E27FC236}">
                <a16:creationId xmlns:a16="http://schemas.microsoft.com/office/drawing/2014/main" id="{258305E4-5D41-13B0-1061-47DBA9E4D437}"/>
              </a:ext>
            </a:extLst>
          </p:cNvPr>
          <p:cNvSpPr txBox="1"/>
          <p:nvPr/>
        </p:nvSpPr>
        <p:spPr>
          <a:xfrm>
            <a:off x="20017760" y="-258163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417EC7"/>
                </a:solidFill>
                <a:cs typeface="+mj-cs"/>
              </a:rPr>
              <a:t>6</a:t>
            </a:r>
            <a:endParaRPr lang="ar-EG" sz="8800" dirty="0">
              <a:solidFill>
                <a:srgbClr val="417EC7"/>
              </a:solidFill>
              <a:cs typeface="+mj-cs"/>
            </a:endParaRPr>
          </a:p>
        </p:txBody>
      </p:sp>
      <p:sp>
        <p:nvSpPr>
          <p:cNvPr id="56" name="مربع نص 19">
            <a:extLst>
              <a:ext uri="{FF2B5EF4-FFF2-40B4-BE49-F238E27FC236}">
                <a16:creationId xmlns:a16="http://schemas.microsoft.com/office/drawing/2014/main" id="{B6662A15-BD14-B032-8355-36915BC8647C}"/>
              </a:ext>
            </a:extLst>
          </p:cNvPr>
          <p:cNvSpPr txBox="1"/>
          <p:nvPr/>
        </p:nvSpPr>
        <p:spPr>
          <a:xfrm>
            <a:off x="9706820" y="-5382674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6596D1"/>
                </a:solidFill>
                <a:cs typeface="+mj-cs"/>
              </a:rPr>
              <a:t>7</a:t>
            </a:r>
            <a:endParaRPr lang="ar-EG" sz="8800" dirty="0">
              <a:solidFill>
                <a:srgbClr val="6596D1"/>
              </a:solidFill>
              <a:cs typeface="+mj-cs"/>
            </a:endParaRPr>
          </a:p>
        </p:txBody>
      </p:sp>
      <p:sp>
        <p:nvSpPr>
          <p:cNvPr id="61" name="مربع نص 34">
            <a:extLst>
              <a:ext uri="{FF2B5EF4-FFF2-40B4-BE49-F238E27FC236}">
                <a16:creationId xmlns:a16="http://schemas.microsoft.com/office/drawing/2014/main" id="{CE522FA0-C114-9AAE-CA13-A3534A75DA6B}"/>
              </a:ext>
            </a:extLst>
          </p:cNvPr>
          <p:cNvSpPr txBox="1"/>
          <p:nvPr/>
        </p:nvSpPr>
        <p:spPr>
          <a:xfrm>
            <a:off x="-9367951" y="838159"/>
            <a:ext cx="181434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Overview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62" name="مربع نص 45">
            <a:extLst>
              <a:ext uri="{FF2B5EF4-FFF2-40B4-BE49-F238E27FC236}">
                <a16:creationId xmlns:a16="http://schemas.microsoft.com/office/drawing/2014/main" id="{6DCBF846-992C-38BB-B7A3-CD473245ED0E}"/>
              </a:ext>
            </a:extLst>
          </p:cNvPr>
          <p:cNvSpPr txBox="1"/>
          <p:nvPr/>
        </p:nvSpPr>
        <p:spPr>
          <a:xfrm>
            <a:off x="-9309658" y="9075720"/>
            <a:ext cx="2157646" cy="9951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4400" b="1" baseline="-25000" dirty="0">
                <a:solidFill>
                  <a:schemeClr val="bg1"/>
                </a:solidFill>
              </a:rPr>
              <a:t>System architecture</a:t>
            </a:r>
            <a:endParaRPr lang="ar-EG" sz="4400" b="1" baseline="-25000" dirty="0">
              <a:solidFill>
                <a:schemeClr val="bg1"/>
              </a:solidFill>
            </a:endParaRPr>
          </a:p>
        </p:txBody>
      </p:sp>
      <p:sp>
        <p:nvSpPr>
          <p:cNvPr id="63" name="مربع نص 46">
            <a:extLst>
              <a:ext uri="{FF2B5EF4-FFF2-40B4-BE49-F238E27FC236}">
                <a16:creationId xmlns:a16="http://schemas.microsoft.com/office/drawing/2014/main" id="{57E2FCFB-E37F-7808-A543-6BDBB3772B13}"/>
              </a:ext>
            </a:extLst>
          </p:cNvPr>
          <p:cNvSpPr txBox="1"/>
          <p:nvPr/>
        </p:nvSpPr>
        <p:spPr>
          <a:xfrm>
            <a:off x="200402" y="12821412"/>
            <a:ext cx="188744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Software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64" name="مربع نص 47">
            <a:extLst>
              <a:ext uri="{FF2B5EF4-FFF2-40B4-BE49-F238E27FC236}">
                <a16:creationId xmlns:a16="http://schemas.microsoft.com/office/drawing/2014/main" id="{7B1DF736-4A8B-2888-B694-7233FE1A9818}"/>
              </a:ext>
            </a:extLst>
          </p:cNvPr>
          <p:cNvSpPr txBox="1"/>
          <p:nvPr/>
        </p:nvSpPr>
        <p:spPr>
          <a:xfrm>
            <a:off x="16751475" y="12205882"/>
            <a:ext cx="199073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165A5"/>
                </a:solidFill>
              </a:rPr>
              <a:t>Challenges</a:t>
            </a:r>
            <a:endParaRPr lang="ar-EG" sz="2800" b="1" dirty="0">
              <a:solidFill>
                <a:srgbClr val="3165A5"/>
              </a:solidFill>
            </a:endParaRPr>
          </a:p>
        </p:txBody>
      </p:sp>
      <p:sp>
        <p:nvSpPr>
          <p:cNvPr id="65" name="مربع نص 48">
            <a:extLst>
              <a:ext uri="{FF2B5EF4-FFF2-40B4-BE49-F238E27FC236}">
                <a16:creationId xmlns:a16="http://schemas.microsoft.com/office/drawing/2014/main" id="{40A7A4D7-257D-A28F-D4F4-4F7A9C070EDD}"/>
              </a:ext>
            </a:extLst>
          </p:cNvPr>
          <p:cNvSpPr txBox="1"/>
          <p:nvPr/>
        </p:nvSpPr>
        <p:spPr>
          <a:xfrm>
            <a:off x="21839832" y="3613665"/>
            <a:ext cx="203391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46BAE"/>
                </a:solidFill>
              </a:rPr>
              <a:t>Hardware integration</a:t>
            </a:r>
            <a:endParaRPr lang="ar-EG" sz="2800" b="1" dirty="0">
              <a:solidFill>
                <a:srgbClr val="346BAE"/>
              </a:solidFill>
            </a:endParaRPr>
          </a:p>
        </p:txBody>
      </p:sp>
      <p:sp>
        <p:nvSpPr>
          <p:cNvPr id="66" name="مربع نص 49">
            <a:extLst>
              <a:ext uri="{FF2B5EF4-FFF2-40B4-BE49-F238E27FC236}">
                <a16:creationId xmlns:a16="http://schemas.microsoft.com/office/drawing/2014/main" id="{9F0736DD-A947-D3AA-ECA5-7D064A075313}"/>
              </a:ext>
            </a:extLst>
          </p:cNvPr>
          <p:cNvSpPr txBox="1"/>
          <p:nvPr/>
        </p:nvSpPr>
        <p:spPr>
          <a:xfrm>
            <a:off x="20985271" y="-2336775"/>
            <a:ext cx="170912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417EC7"/>
                </a:solidFill>
              </a:rPr>
              <a:t>System endings</a:t>
            </a:r>
            <a:endParaRPr lang="ar-EG" sz="2800" b="1" dirty="0">
              <a:solidFill>
                <a:srgbClr val="417EC7"/>
              </a:solidFill>
            </a:endParaRPr>
          </a:p>
        </p:txBody>
      </p:sp>
      <p:sp>
        <p:nvSpPr>
          <p:cNvPr id="67" name="مربع نص 50">
            <a:extLst>
              <a:ext uri="{FF2B5EF4-FFF2-40B4-BE49-F238E27FC236}">
                <a16:creationId xmlns:a16="http://schemas.microsoft.com/office/drawing/2014/main" id="{02BCCFFD-A75E-C92D-37E1-2E9B6F2DB2FB}"/>
              </a:ext>
            </a:extLst>
          </p:cNvPr>
          <p:cNvSpPr txBox="1"/>
          <p:nvPr/>
        </p:nvSpPr>
        <p:spPr>
          <a:xfrm>
            <a:off x="10407805" y="-5074897"/>
            <a:ext cx="175163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en-US" sz="2000" b="1" dirty="0">
                <a:solidFill>
                  <a:srgbClr val="6596D1"/>
                </a:solidFill>
              </a:rPr>
              <a:t>Future </a:t>
            </a:r>
          </a:p>
          <a:p>
            <a:pPr rtl="1"/>
            <a:r>
              <a:rPr lang="en-US" sz="2000" b="1" dirty="0">
                <a:solidFill>
                  <a:srgbClr val="6596D1"/>
                </a:solidFill>
              </a:rPr>
              <a:t>Enhancements</a:t>
            </a:r>
            <a:endParaRPr lang="ar-EG" sz="2000" b="1" dirty="0">
              <a:solidFill>
                <a:srgbClr val="6596D1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86C5C10-234B-71CB-CEF0-F86C672C20C5}"/>
              </a:ext>
            </a:extLst>
          </p:cNvPr>
          <p:cNvGrpSpPr/>
          <p:nvPr/>
        </p:nvGrpSpPr>
        <p:grpSpPr>
          <a:xfrm>
            <a:off x="-5427590" y="-241053"/>
            <a:ext cx="2743200" cy="2743200"/>
            <a:chOff x="2862970" y="1679187"/>
            <a:chExt cx="2743200" cy="2743200"/>
          </a:xfrm>
          <a:solidFill>
            <a:srgbClr val="1F4068"/>
          </a:solidFill>
        </p:grpSpPr>
        <p:sp>
          <p:nvSpPr>
            <p:cNvPr id="69" name="شكل حر: شكل 17">
              <a:extLst>
                <a:ext uri="{FF2B5EF4-FFF2-40B4-BE49-F238E27FC236}">
                  <a16:creationId xmlns:a16="http://schemas.microsoft.com/office/drawing/2014/main" id="{A59B57AF-D584-6132-0839-E11D2B4754BF}"/>
                </a:ext>
              </a:extLst>
            </p:cNvPr>
            <p:cNvSpPr>
              <a:spLocks/>
            </p:cNvSpPr>
            <p:nvPr/>
          </p:nvSpPr>
          <p:spPr>
            <a:xfrm>
              <a:off x="2862970" y="167918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grpFill/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70" name="صورة 44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405D8926-6234-FAB5-0681-BB72CA2A1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6702" y="1973932"/>
              <a:ext cx="997868" cy="997868"/>
            </a:xfrm>
            <a:prstGeom prst="rect">
              <a:avLst/>
            </a:prstGeom>
            <a:grpFill/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1319223-4ABD-384E-A2EA-278069895973}"/>
              </a:ext>
            </a:extLst>
          </p:cNvPr>
          <p:cNvGrpSpPr/>
          <p:nvPr/>
        </p:nvGrpSpPr>
        <p:grpSpPr>
          <a:xfrm>
            <a:off x="-5004403" y="7906870"/>
            <a:ext cx="2743200" cy="2743200"/>
            <a:chOff x="3255677" y="3121510"/>
            <a:chExt cx="2743200" cy="2743200"/>
          </a:xfrm>
        </p:grpSpPr>
        <p:sp>
          <p:nvSpPr>
            <p:cNvPr id="72" name="شكل حر: شكل 16">
              <a:extLst>
                <a:ext uri="{FF2B5EF4-FFF2-40B4-BE49-F238E27FC236}">
                  <a16:creationId xmlns:a16="http://schemas.microsoft.com/office/drawing/2014/main" id="{9DDA1FFE-6F43-0C24-632F-8781CDA987B8}"/>
                </a:ext>
              </a:extLst>
            </p:cNvPr>
            <p:cNvSpPr/>
            <p:nvPr/>
          </p:nvSpPr>
          <p:spPr>
            <a:xfrm rot="18900000">
              <a:off x="3255677" y="3121510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1E3E64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73" name="Graphic 72" descr="Decision chart with solid fill">
              <a:extLst>
                <a:ext uri="{FF2B5EF4-FFF2-40B4-BE49-F238E27FC236}">
                  <a16:creationId xmlns:a16="http://schemas.microsoft.com/office/drawing/2014/main" id="{A0143E0A-A571-6B96-6EEE-6735360943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55706" y="3878881"/>
              <a:ext cx="914400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64DA9D6-FEED-4FA9-BD14-AB07CFE1FDB1}"/>
              </a:ext>
            </a:extLst>
          </p:cNvPr>
          <p:cNvGrpSpPr/>
          <p:nvPr/>
        </p:nvGrpSpPr>
        <p:grpSpPr>
          <a:xfrm>
            <a:off x="4577461" y="11191982"/>
            <a:ext cx="2743200" cy="2743200"/>
            <a:chOff x="4577461" y="3907262"/>
            <a:chExt cx="2743200" cy="2743200"/>
          </a:xfrm>
        </p:grpSpPr>
        <p:sp>
          <p:nvSpPr>
            <p:cNvPr id="75" name="شكل حر: شكل 15">
              <a:extLst>
                <a:ext uri="{FF2B5EF4-FFF2-40B4-BE49-F238E27FC236}">
                  <a16:creationId xmlns:a16="http://schemas.microsoft.com/office/drawing/2014/main" id="{1305E3D5-7391-2B3F-ABAA-9C77F3FCBBE2}"/>
                </a:ext>
              </a:extLst>
            </p:cNvPr>
            <p:cNvSpPr/>
            <p:nvPr/>
          </p:nvSpPr>
          <p:spPr>
            <a:xfrm rot="16200000">
              <a:off x="4577461" y="390726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21457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76" name="Graphic 75" descr="Cmd Terminal with solid fill">
              <a:extLst>
                <a:ext uri="{FF2B5EF4-FFF2-40B4-BE49-F238E27FC236}">
                  <a16:creationId xmlns:a16="http://schemas.microsoft.com/office/drawing/2014/main" id="{271B94C9-714A-2480-F74A-A09F23167A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25942" y="5454482"/>
              <a:ext cx="914400" cy="9144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620DEE7-D230-503C-C6F5-322C2BF9E103}"/>
              </a:ext>
            </a:extLst>
          </p:cNvPr>
          <p:cNvGrpSpPr/>
          <p:nvPr/>
        </p:nvGrpSpPr>
        <p:grpSpPr>
          <a:xfrm>
            <a:off x="12029067" y="10526585"/>
            <a:ext cx="2743200" cy="2743200"/>
            <a:chOff x="6054987" y="3546665"/>
            <a:chExt cx="2743200" cy="2743200"/>
          </a:xfrm>
        </p:grpSpPr>
        <p:sp>
          <p:nvSpPr>
            <p:cNvPr id="78" name="شكل حر: شكل 14">
              <a:extLst>
                <a:ext uri="{FF2B5EF4-FFF2-40B4-BE49-F238E27FC236}">
                  <a16:creationId xmlns:a16="http://schemas.microsoft.com/office/drawing/2014/main" id="{630926EF-13F4-B363-9D55-06BA517F52ED}"/>
                </a:ext>
              </a:extLst>
            </p:cNvPr>
            <p:cNvSpPr/>
            <p:nvPr/>
          </p:nvSpPr>
          <p:spPr>
            <a:xfrm rot="13500000">
              <a:off x="6054987" y="3546665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165A5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79" name="Graphic 78" descr="Left Brain with solid fill">
              <a:extLst>
                <a:ext uri="{FF2B5EF4-FFF2-40B4-BE49-F238E27FC236}">
                  <a16:creationId xmlns:a16="http://schemas.microsoft.com/office/drawing/2014/main" id="{967EE0B5-81EC-FA2C-F266-F3F0611934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69387" y="5162094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EF46E01-5699-B728-135D-226C33068ED3}"/>
              </a:ext>
            </a:extLst>
          </p:cNvPr>
          <p:cNvGrpSpPr/>
          <p:nvPr/>
        </p:nvGrpSpPr>
        <p:grpSpPr>
          <a:xfrm>
            <a:off x="17089862" y="2242612"/>
            <a:ext cx="2743200" cy="2743200"/>
            <a:chOff x="6818102" y="2242612"/>
            <a:chExt cx="2743200" cy="2743200"/>
          </a:xfrm>
        </p:grpSpPr>
        <p:sp>
          <p:nvSpPr>
            <p:cNvPr id="81" name="شكل حر: شكل 13">
              <a:extLst>
                <a:ext uri="{FF2B5EF4-FFF2-40B4-BE49-F238E27FC236}">
                  <a16:creationId xmlns:a16="http://schemas.microsoft.com/office/drawing/2014/main" id="{39E393CF-400E-D222-74CE-E7E3CFF4CF10}"/>
                </a:ext>
              </a:extLst>
            </p:cNvPr>
            <p:cNvSpPr/>
            <p:nvPr/>
          </p:nvSpPr>
          <p:spPr>
            <a:xfrm rot="10800000">
              <a:off x="6818102" y="22426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46BAE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82" name="Graphic 81" descr="Processor with solid fill">
              <a:extLst>
                <a:ext uri="{FF2B5EF4-FFF2-40B4-BE49-F238E27FC236}">
                  <a16:creationId xmlns:a16="http://schemas.microsoft.com/office/drawing/2014/main" id="{7D1E0FEC-4A90-0F7B-9E34-7DD8E0EB79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81504" y="3668293"/>
              <a:ext cx="914400" cy="91440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1D1E6B4-E816-17DA-B517-30FFDC261B7D}"/>
              </a:ext>
            </a:extLst>
          </p:cNvPr>
          <p:cNvGrpSpPr/>
          <p:nvPr/>
        </p:nvGrpSpPr>
        <p:grpSpPr>
          <a:xfrm>
            <a:off x="16322141" y="-3396188"/>
            <a:ext cx="2743200" cy="2743200"/>
            <a:chOff x="6446621" y="871012"/>
            <a:chExt cx="2743200" cy="2743200"/>
          </a:xfrm>
        </p:grpSpPr>
        <p:sp>
          <p:nvSpPr>
            <p:cNvPr id="84" name="شكل حر: شكل 12">
              <a:extLst>
                <a:ext uri="{FF2B5EF4-FFF2-40B4-BE49-F238E27FC236}">
                  <a16:creationId xmlns:a16="http://schemas.microsoft.com/office/drawing/2014/main" id="{F319D378-1115-59E9-D304-055A0997E129}"/>
                </a:ext>
              </a:extLst>
            </p:cNvPr>
            <p:cNvSpPr/>
            <p:nvPr/>
          </p:nvSpPr>
          <p:spPr>
            <a:xfrm rot="8100000">
              <a:off x="6446621" y="8710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417EC7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85" name="صورة 42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5555F854-DFCA-C695-29C2-6541F9383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0686" y="1799573"/>
              <a:ext cx="1046585" cy="1046585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CD97846-E554-CED6-0C5E-E5508785D37E}"/>
              </a:ext>
            </a:extLst>
          </p:cNvPr>
          <p:cNvGrpSpPr/>
          <p:nvPr/>
        </p:nvGrpSpPr>
        <p:grpSpPr>
          <a:xfrm>
            <a:off x="5202811" y="-5488909"/>
            <a:ext cx="2743200" cy="2743200"/>
            <a:chOff x="5243451" y="203817"/>
            <a:chExt cx="2743200" cy="2743200"/>
          </a:xfrm>
        </p:grpSpPr>
        <p:sp>
          <p:nvSpPr>
            <p:cNvPr id="87" name="شكل حر: شكل 11">
              <a:extLst>
                <a:ext uri="{FF2B5EF4-FFF2-40B4-BE49-F238E27FC236}">
                  <a16:creationId xmlns:a16="http://schemas.microsoft.com/office/drawing/2014/main" id="{5B81BC98-CD43-A82F-801E-71231AED2D87}"/>
                </a:ext>
              </a:extLst>
            </p:cNvPr>
            <p:cNvSpPr/>
            <p:nvPr/>
          </p:nvSpPr>
          <p:spPr>
            <a:xfrm rot="5400000">
              <a:off x="5243451" y="20381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6596D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88" name="Graphic 87" descr="Internet Of Things with solid fill">
              <a:extLst>
                <a:ext uri="{FF2B5EF4-FFF2-40B4-BE49-F238E27FC236}">
                  <a16:creationId xmlns:a16="http://schemas.microsoft.com/office/drawing/2014/main" id="{19D323F9-7E80-214F-E0FC-59B477A70E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96029" y="6619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904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21000">
              <a:schemeClr val="accent6">
                <a:lumMod val="75000"/>
              </a:schemeClr>
            </a:gs>
            <a:gs pos="67000">
              <a:srgbClr val="100B10">
                <a:alpha val="99000"/>
                <a:lumMod val="82000"/>
              </a:srgbClr>
            </a:gs>
            <a:gs pos="100000">
              <a:srgbClr val="0C090D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D6596-E784-1FD9-A6ED-9B9B8864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EC8CAB06-69BC-0567-6C8A-3EF36996B3D5}"/>
              </a:ext>
            </a:extLst>
          </p:cNvPr>
          <p:cNvSpPr txBox="1"/>
          <p:nvPr/>
        </p:nvSpPr>
        <p:spPr>
          <a:xfrm>
            <a:off x="13526" y="638308"/>
            <a:ext cx="5899372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4800" dirty="0">
                <a:latin typeface="Century" panose="02040604050505020304" pitchFamily="18" charset="0"/>
              </a:rPr>
              <a:t> Classic timed bomb</a:t>
            </a:r>
            <a:endParaRPr lang="ar-EG" sz="4800" dirty="0">
              <a:latin typeface="Century" panose="02040604050505020304" pitchFamily="18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E5C0E661-DB85-2DA6-266A-E5E5AC43260E}"/>
              </a:ext>
            </a:extLst>
          </p:cNvPr>
          <p:cNvSpPr txBox="1"/>
          <p:nvPr/>
        </p:nvSpPr>
        <p:spPr>
          <a:xfrm>
            <a:off x="2065984" y="1604472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F4068"/>
                </a:solidFill>
                <a:cs typeface="+mj-cs"/>
              </a:rPr>
              <a:t>1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51CBDA43-FACE-9313-7E0E-B406FC3E488C}"/>
              </a:ext>
            </a:extLst>
          </p:cNvPr>
          <p:cNvSpPr txBox="1"/>
          <p:nvPr/>
        </p:nvSpPr>
        <p:spPr>
          <a:xfrm>
            <a:off x="1999096" y="3295142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E3E64"/>
                </a:solidFill>
                <a:cs typeface="+mj-cs"/>
              </a:rPr>
              <a:t>2</a:t>
            </a:r>
            <a:endParaRPr lang="ar-EG" sz="9600" dirty="0">
              <a:solidFill>
                <a:srgbClr val="1E3E64"/>
              </a:solidFill>
              <a:cs typeface="+mj-cs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C0BCEC63-1AFC-7621-44EB-13C5D68F83D6}"/>
              </a:ext>
            </a:extLst>
          </p:cNvPr>
          <p:cNvSpPr txBox="1"/>
          <p:nvPr/>
        </p:nvSpPr>
        <p:spPr>
          <a:xfrm>
            <a:off x="9726489" y="4960771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165A5"/>
                </a:solidFill>
                <a:cs typeface="+mj-cs"/>
              </a:rPr>
              <a:t>4</a:t>
            </a:r>
            <a:endParaRPr lang="ar-EG" sz="8800" dirty="0">
              <a:solidFill>
                <a:srgbClr val="3165A5"/>
              </a:solidFill>
              <a:cs typeface="+mj-cs"/>
            </a:endParaRP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24A7F740-C467-601D-1B00-629EEC1B8496}"/>
              </a:ext>
            </a:extLst>
          </p:cNvPr>
          <p:cNvSpPr txBox="1"/>
          <p:nvPr/>
        </p:nvSpPr>
        <p:spPr>
          <a:xfrm>
            <a:off x="1990736" y="4980524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214571"/>
                </a:solidFill>
                <a:latin typeface="Aptos Light" panose="020F0502020204030204" pitchFamily="34" charset="0"/>
                <a:cs typeface="+mj-cs"/>
              </a:rPr>
              <a:t>3</a:t>
            </a:r>
            <a:endParaRPr lang="ar-EG" sz="8800" dirty="0">
              <a:solidFill>
                <a:srgbClr val="214571"/>
              </a:solidFill>
              <a:latin typeface="Aptos Light" panose="020F0502020204030204" pitchFamily="34" charset="0"/>
              <a:cs typeface="+mj-cs"/>
            </a:endParaRP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FF3A8A2B-BBDA-5EFD-AD6B-23F1946C57B8}"/>
              </a:ext>
            </a:extLst>
          </p:cNvPr>
          <p:cNvSpPr txBox="1"/>
          <p:nvPr/>
        </p:nvSpPr>
        <p:spPr>
          <a:xfrm>
            <a:off x="9755257" y="342900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46BAE"/>
                </a:solidFill>
                <a:cs typeface="+mj-cs"/>
              </a:rPr>
              <a:t>5</a:t>
            </a:r>
            <a:endParaRPr lang="ar-EG" sz="8800" dirty="0">
              <a:solidFill>
                <a:srgbClr val="346BAE"/>
              </a:solidFill>
              <a:cs typeface="+mj-cs"/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33365D93-2EEA-7386-9816-06BB355AF6DB}"/>
              </a:ext>
            </a:extLst>
          </p:cNvPr>
          <p:cNvSpPr txBox="1"/>
          <p:nvPr/>
        </p:nvSpPr>
        <p:spPr>
          <a:xfrm>
            <a:off x="9776480" y="165509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417EC7"/>
                </a:solidFill>
                <a:cs typeface="+mj-cs"/>
              </a:rPr>
              <a:t>6</a:t>
            </a:r>
            <a:endParaRPr lang="ar-EG" sz="8800" dirty="0">
              <a:solidFill>
                <a:srgbClr val="417EC7"/>
              </a:solidFill>
              <a:cs typeface="+mj-cs"/>
            </a:endParaRP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B8A49DAA-7FC6-EF32-8067-AD7DDD21B063}"/>
              </a:ext>
            </a:extLst>
          </p:cNvPr>
          <p:cNvSpPr txBox="1"/>
          <p:nvPr/>
        </p:nvSpPr>
        <p:spPr>
          <a:xfrm>
            <a:off x="9776480" y="123319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6596D1"/>
                </a:solidFill>
                <a:cs typeface="+mj-cs"/>
              </a:rPr>
              <a:t>7</a:t>
            </a:r>
            <a:endParaRPr lang="ar-EG" sz="8800" dirty="0">
              <a:solidFill>
                <a:srgbClr val="6596D1"/>
              </a:solidFill>
              <a:cs typeface="+mj-cs"/>
            </a:endParaRPr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1DE0335D-7ECA-526A-42D5-7F0783E4CC8A}"/>
              </a:ext>
            </a:extLst>
          </p:cNvPr>
          <p:cNvSpPr txBox="1"/>
          <p:nvPr/>
        </p:nvSpPr>
        <p:spPr>
          <a:xfrm>
            <a:off x="-11492" y="2122250"/>
            <a:ext cx="181434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Overview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46" name="مربع نص 45">
            <a:extLst>
              <a:ext uri="{FF2B5EF4-FFF2-40B4-BE49-F238E27FC236}">
                <a16:creationId xmlns:a16="http://schemas.microsoft.com/office/drawing/2014/main" id="{073056FF-DC5B-77F5-6767-6A3B953D7AD6}"/>
              </a:ext>
            </a:extLst>
          </p:cNvPr>
          <p:cNvSpPr txBox="1"/>
          <p:nvPr/>
        </p:nvSpPr>
        <p:spPr>
          <a:xfrm>
            <a:off x="3630" y="3463379"/>
            <a:ext cx="2157646" cy="9951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4400" b="1" baseline="-25000" dirty="0">
                <a:solidFill>
                  <a:schemeClr val="bg1"/>
                </a:solidFill>
              </a:rPr>
              <a:t>System architecture</a:t>
            </a:r>
            <a:endParaRPr lang="ar-EG" sz="4400" b="1" baseline="-25000" dirty="0">
              <a:solidFill>
                <a:schemeClr val="bg1"/>
              </a:solidFill>
            </a:endParaRPr>
          </a:p>
        </p:txBody>
      </p:sp>
      <p:sp>
        <p:nvSpPr>
          <p:cNvPr id="47" name="مربع نص 46">
            <a:extLst>
              <a:ext uri="{FF2B5EF4-FFF2-40B4-BE49-F238E27FC236}">
                <a16:creationId xmlns:a16="http://schemas.microsoft.com/office/drawing/2014/main" id="{4C20FD95-8A18-C7C4-391E-18332FDB405B}"/>
              </a:ext>
            </a:extLst>
          </p:cNvPr>
          <p:cNvSpPr txBox="1"/>
          <p:nvPr/>
        </p:nvSpPr>
        <p:spPr>
          <a:xfrm>
            <a:off x="-48129" y="5326907"/>
            <a:ext cx="188744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Software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48" name="مربع نص 47">
            <a:extLst>
              <a:ext uri="{FF2B5EF4-FFF2-40B4-BE49-F238E27FC236}">
                <a16:creationId xmlns:a16="http://schemas.microsoft.com/office/drawing/2014/main" id="{22738298-884A-882C-BFCA-2D649F4F4606}"/>
              </a:ext>
            </a:extLst>
          </p:cNvPr>
          <p:cNvSpPr txBox="1"/>
          <p:nvPr/>
        </p:nvSpPr>
        <p:spPr>
          <a:xfrm>
            <a:off x="10469671" y="5402960"/>
            <a:ext cx="199073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165A5"/>
                </a:solidFill>
              </a:rPr>
              <a:t>Challenges</a:t>
            </a:r>
            <a:endParaRPr lang="ar-EG" sz="2800" b="1" dirty="0">
              <a:solidFill>
                <a:srgbClr val="3165A5"/>
              </a:solidFill>
            </a:endParaRPr>
          </a:p>
        </p:txBody>
      </p:sp>
      <p:sp>
        <p:nvSpPr>
          <p:cNvPr id="49" name="مربع نص 48">
            <a:extLst>
              <a:ext uri="{FF2B5EF4-FFF2-40B4-BE49-F238E27FC236}">
                <a16:creationId xmlns:a16="http://schemas.microsoft.com/office/drawing/2014/main" id="{DD3CCE80-405A-2747-5933-32DDE6B46942}"/>
              </a:ext>
            </a:extLst>
          </p:cNvPr>
          <p:cNvSpPr txBox="1"/>
          <p:nvPr/>
        </p:nvSpPr>
        <p:spPr>
          <a:xfrm>
            <a:off x="10403625" y="3668293"/>
            <a:ext cx="203391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46BAE"/>
                </a:solidFill>
              </a:rPr>
              <a:t>Hardware integration</a:t>
            </a:r>
            <a:endParaRPr lang="ar-EG" sz="2800" b="1" dirty="0">
              <a:solidFill>
                <a:srgbClr val="346BAE"/>
              </a:solidFill>
            </a:endParaRPr>
          </a:p>
        </p:txBody>
      </p:sp>
      <p:sp>
        <p:nvSpPr>
          <p:cNvPr id="50" name="مربع نص 49">
            <a:extLst>
              <a:ext uri="{FF2B5EF4-FFF2-40B4-BE49-F238E27FC236}">
                <a16:creationId xmlns:a16="http://schemas.microsoft.com/office/drawing/2014/main" id="{65F56731-4022-9DE0-843D-AFB31CBDB5DA}"/>
              </a:ext>
            </a:extLst>
          </p:cNvPr>
          <p:cNvSpPr txBox="1"/>
          <p:nvPr/>
        </p:nvSpPr>
        <p:spPr>
          <a:xfrm>
            <a:off x="10469671" y="1899945"/>
            <a:ext cx="170912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417EC7"/>
                </a:solidFill>
              </a:rPr>
              <a:t>System endings</a:t>
            </a:r>
            <a:endParaRPr lang="ar-EG" sz="2800" b="1" dirty="0">
              <a:solidFill>
                <a:srgbClr val="417EC7"/>
              </a:solidFill>
            </a:endParaRPr>
          </a:p>
        </p:txBody>
      </p:sp>
      <p:sp>
        <p:nvSpPr>
          <p:cNvPr id="51" name="مربع نص 50">
            <a:extLst>
              <a:ext uri="{FF2B5EF4-FFF2-40B4-BE49-F238E27FC236}">
                <a16:creationId xmlns:a16="http://schemas.microsoft.com/office/drawing/2014/main" id="{E618836A-2B0F-AB8A-EBAB-E1D24A1BE92B}"/>
              </a:ext>
            </a:extLst>
          </p:cNvPr>
          <p:cNvSpPr txBox="1"/>
          <p:nvPr/>
        </p:nvSpPr>
        <p:spPr>
          <a:xfrm>
            <a:off x="10407805" y="533423"/>
            <a:ext cx="175163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en-US" sz="2000" b="1" dirty="0">
                <a:solidFill>
                  <a:srgbClr val="6596D1"/>
                </a:solidFill>
              </a:rPr>
              <a:t>Future </a:t>
            </a:r>
          </a:p>
          <a:p>
            <a:pPr rtl="1"/>
            <a:r>
              <a:rPr lang="en-US" sz="2000" b="1" dirty="0">
                <a:solidFill>
                  <a:srgbClr val="6596D1"/>
                </a:solidFill>
              </a:rPr>
              <a:t>Enhancements</a:t>
            </a:r>
            <a:endParaRPr lang="ar-EG" sz="2000" b="1" dirty="0">
              <a:solidFill>
                <a:srgbClr val="6596D1"/>
              </a:solidFill>
            </a:endParaRPr>
          </a:p>
        </p:txBody>
      </p:sp>
      <p:sp useBgFill="1">
        <p:nvSpPr>
          <p:cNvPr id="25" name="مستطيل: زوايا مستديرة 24">
            <a:extLst>
              <a:ext uri="{FF2B5EF4-FFF2-40B4-BE49-F238E27FC236}">
                <a16:creationId xmlns:a16="http://schemas.microsoft.com/office/drawing/2014/main" id="{DC298965-3AA7-BDEB-AE5A-366E00F549EC}"/>
              </a:ext>
            </a:extLst>
          </p:cNvPr>
          <p:cNvSpPr/>
          <p:nvPr/>
        </p:nvSpPr>
        <p:spPr>
          <a:xfrm rot="10800000">
            <a:off x="4741583" y="7984389"/>
            <a:ext cx="2579078" cy="686521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4000" b="1" dirty="0">
                <a:solidFill>
                  <a:schemeClr val="tx1"/>
                </a:solidFill>
              </a:rPr>
              <a:t>Overview</a:t>
            </a:r>
            <a:endParaRPr lang="ar-EG" sz="4000" b="1" dirty="0">
              <a:solidFill>
                <a:schemeClr val="tx1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1A153B5-710F-5D2A-872F-0FA4874236F6}"/>
              </a:ext>
            </a:extLst>
          </p:cNvPr>
          <p:cNvGrpSpPr/>
          <p:nvPr/>
        </p:nvGrpSpPr>
        <p:grpSpPr>
          <a:xfrm>
            <a:off x="2862970" y="1679187"/>
            <a:ext cx="2743200" cy="2743200"/>
            <a:chOff x="2862970" y="1679187"/>
            <a:chExt cx="2743200" cy="2743200"/>
          </a:xfrm>
          <a:solidFill>
            <a:srgbClr val="1F4068"/>
          </a:solidFill>
        </p:grpSpPr>
        <p:sp>
          <p:nvSpPr>
            <p:cNvPr id="18" name="شكل حر: شكل 17">
              <a:extLst>
                <a:ext uri="{FF2B5EF4-FFF2-40B4-BE49-F238E27FC236}">
                  <a16:creationId xmlns:a16="http://schemas.microsoft.com/office/drawing/2014/main" id="{D0D165F2-9F66-9D03-0BF1-302E39458D10}"/>
                </a:ext>
              </a:extLst>
            </p:cNvPr>
            <p:cNvSpPr>
              <a:spLocks/>
            </p:cNvSpPr>
            <p:nvPr/>
          </p:nvSpPr>
          <p:spPr>
            <a:xfrm>
              <a:off x="2862970" y="167918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grpFill/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45" name="صورة 44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08F5D7A3-ECB0-C9D3-7E8A-FE51FB0A6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6702" y="1973932"/>
              <a:ext cx="997868" cy="997868"/>
            </a:xfrm>
            <a:prstGeom prst="rect">
              <a:avLst/>
            </a:prstGeom>
            <a:grpFill/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22328D7-9A99-66F5-2078-71B574937664}"/>
              </a:ext>
            </a:extLst>
          </p:cNvPr>
          <p:cNvGrpSpPr/>
          <p:nvPr/>
        </p:nvGrpSpPr>
        <p:grpSpPr>
          <a:xfrm>
            <a:off x="3255677" y="3121510"/>
            <a:ext cx="2743200" cy="2743200"/>
            <a:chOff x="3255677" y="3121510"/>
            <a:chExt cx="2743200" cy="2743200"/>
          </a:xfrm>
        </p:grpSpPr>
        <p:sp>
          <p:nvSpPr>
            <p:cNvPr id="17" name="شكل حر: شكل 16">
              <a:extLst>
                <a:ext uri="{FF2B5EF4-FFF2-40B4-BE49-F238E27FC236}">
                  <a16:creationId xmlns:a16="http://schemas.microsoft.com/office/drawing/2014/main" id="{54169AB7-9121-E6CA-1AEA-2C62E4D36230}"/>
                </a:ext>
              </a:extLst>
            </p:cNvPr>
            <p:cNvSpPr/>
            <p:nvPr/>
          </p:nvSpPr>
          <p:spPr>
            <a:xfrm rot="18900000">
              <a:off x="3255677" y="3121510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1E3E64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77" name="Graphic 76" descr="Decision chart with solid fill">
              <a:extLst>
                <a:ext uri="{FF2B5EF4-FFF2-40B4-BE49-F238E27FC236}">
                  <a16:creationId xmlns:a16="http://schemas.microsoft.com/office/drawing/2014/main" id="{42EE02FE-E165-52A6-FF59-5E2926E309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55706" y="3878881"/>
              <a:ext cx="914400" cy="9144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54E6923-5097-60B5-1BC2-EEA43CE05DFD}"/>
              </a:ext>
            </a:extLst>
          </p:cNvPr>
          <p:cNvGrpSpPr/>
          <p:nvPr/>
        </p:nvGrpSpPr>
        <p:grpSpPr>
          <a:xfrm>
            <a:off x="4577461" y="3907262"/>
            <a:ext cx="2743200" cy="2743200"/>
            <a:chOff x="4577461" y="3907262"/>
            <a:chExt cx="2743200" cy="2743200"/>
          </a:xfrm>
        </p:grpSpPr>
        <p:sp>
          <p:nvSpPr>
            <p:cNvPr id="16" name="شكل حر: شكل 15">
              <a:extLst>
                <a:ext uri="{FF2B5EF4-FFF2-40B4-BE49-F238E27FC236}">
                  <a16:creationId xmlns:a16="http://schemas.microsoft.com/office/drawing/2014/main" id="{0842F638-3F83-969B-CA43-0ADBA693DEFE}"/>
                </a:ext>
              </a:extLst>
            </p:cNvPr>
            <p:cNvSpPr/>
            <p:nvPr/>
          </p:nvSpPr>
          <p:spPr>
            <a:xfrm rot="16200000">
              <a:off x="4577461" y="390726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21457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67" name="Graphic 66" descr="Cmd Terminal with solid fill">
              <a:extLst>
                <a:ext uri="{FF2B5EF4-FFF2-40B4-BE49-F238E27FC236}">
                  <a16:creationId xmlns:a16="http://schemas.microsoft.com/office/drawing/2014/main" id="{A0116F6A-8B4C-D20D-FA53-476E2E753A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25942" y="5454482"/>
              <a:ext cx="914400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94C2479-9B3A-896C-21F3-74058372A3BB}"/>
              </a:ext>
            </a:extLst>
          </p:cNvPr>
          <p:cNvGrpSpPr/>
          <p:nvPr/>
        </p:nvGrpSpPr>
        <p:grpSpPr>
          <a:xfrm>
            <a:off x="6054987" y="3546665"/>
            <a:ext cx="2743200" cy="2743200"/>
            <a:chOff x="6054987" y="3546665"/>
            <a:chExt cx="2743200" cy="2743200"/>
          </a:xfrm>
        </p:grpSpPr>
        <p:sp>
          <p:nvSpPr>
            <p:cNvPr id="15" name="شكل حر: شكل 14">
              <a:extLst>
                <a:ext uri="{FF2B5EF4-FFF2-40B4-BE49-F238E27FC236}">
                  <a16:creationId xmlns:a16="http://schemas.microsoft.com/office/drawing/2014/main" id="{D0F1D795-679F-D42F-E64F-5C7B699D5230}"/>
                </a:ext>
              </a:extLst>
            </p:cNvPr>
            <p:cNvSpPr/>
            <p:nvPr/>
          </p:nvSpPr>
          <p:spPr>
            <a:xfrm rot="13500000">
              <a:off x="6054987" y="3546665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165A5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73" name="Graphic 72" descr="Left Brain with solid fill">
              <a:extLst>
                <a:ext uri="{FF2B5EF4-FFF2-40B4-BE49-F238E27FC236}">
                  <a16:creationId xmlns:a16="http://schemas.microsoft.com/office/drawing/2014/main" id="{2E9D47B9-3A8F-23A4-B5C1-8D77C832D8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69387" y="5162094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BC1E067-A0C4-5D06-A042-6DFAB60815CD}"/>
              </a:ext>
            </a:extLst>
          </p:cNvPr>
          <p:cNvGrpSpPr/>
          <p:nvPr/>
        </p:nvGrpSpPr>
        <p:grpSpPr>
          <a:xfrm>
            <a:off x="6818102" y="2242612"/>
            <a:ext cx="2743200" cy="2743200"/>
            <a:chOff x="6818102" y="2242612"/>
            <a:chExt cx="2743200" cy="2743200"/>
          </a:xfrm>
        </p:grpSpPr>
        <p:sp>
          <p:nvSpPr>
            <p:cNvPr id="14" name="شكل حر: شكل 13">
              <a:extLst>
                <a:ext uri="{FF2B5EF4-FFF2-40B4-BE49-F238E27FC236}">
                  <a16:creationId xmlns:a16="http://schemas.microsoft.com/office/drawing/2014/main" id="{AFAB29E1-D366-D706-4A9C-467BC1702353}"/>
                </a:ext>
              </a:extLst>
            </p:cNvPr>
            <p:cNvSpPr/>
            <p:nvPr/>
          </p:nvSpPr>
          <p:spPr>
            <a:xfrm rot="10800000">
              <a:off x="6818102" y="22426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46BAE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31" name="Graphic 30" descr="Processor with solid fill">
              <a:extLst>
                <a:ext uri="{FF2B5EF4-FFF2-40B4-BE49-F238E27FC236}">
                  <a16:creationId xmlns:a16="http://schemas.microsoft.com/office/drawing/2014/main" id="{9A794808-F2B7-5C7E-4F77-5B04CD7A77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81504" y="3668293"/>
              <a:ext cx="914400" cy="9144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AABD2C0-1BD4-F87A-50DE-A13DEC28D66A}"/>
              </a:ext>
            </a:extLst>
          </p:cNvPr>
          <p:cNvGrpSpPr/>
          <p:nvPr/>
        </p:nvGrpSpPr>
        <p:grpSpPr>
          <a:xfrm>
            <a:off x="6405981" y="840532"/>
            <a:ext cx="2743200" cy="2743200"/>
            <a:chOff x="6446621" y="871012"/>
            <a:chExt cx="2743200" cy="2743200"/>
          </a:xfrm>
        </p:grpSpPr>
        <p:sp>
          <p:nvSpPr>
            <p:cNvPr id="13" name="شكل حر: شكل 12">
              <a:extLst>
                <a:ext uri="{FF2B5EF4-FFF2-40B4-BE49-F238E27FC236}">
                  <a16:creationId xmlns:a16="http://schemas.microsoft.com/office/drawing/2014/main" id="{D1111CA0-6B70-2443-015B-2BA71898B3E2}"/>
                </a:ext>
              </a:extLst>
            </p:cNvPr>
            <p:cNvSpPr/>
            <p:nvPr/>
          </p:nvSpPr>
          <p:spPr>
            <a:xfrm rot="8100000">
              <a:off x="6446621" y="8710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417EC7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43" name="صورة 42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10EBE493-8692-09C3-A9AC-4186765FC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00686" y="1799573"/>
              <a:ext cx="1046585" cy="1046585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9196C19-9F88-9A9D-E33B-6B30E12EDD4E}"/>
              </a:ext>
            </a:extLst>
          </p:cNvPr>
          <p:cNvGrpSpPr/>
          <p:nvPr/>
        </p:nvGrpSpPr>
        <p:grpSpPr>
          <a:xfrm>
            <a:off x="5192651" y="183497"/>
            <a:ext cx="2743200" cy="2743200"/>
            <a:chOff x="5243451" y="203817"/>
            <a:chExt cx="2743200" cy="2743200"/>
          </a:xfrm>
        </p:grpSpPr>
        <p:sp>
          <p:nvSpPr>
            <p:cNvPr id="12" name="شكل حر: شكل 11">
              <a:extLst>
                <a:ext uri="{FF2B5EF4-FFF2-40B4-BE49-F238E27FC236}">
                  <a16:creationId xmlns:a16="http://schemas.microsoft.com/office/drawing/2014/main" id="{29B45193-5CA6-D368-D4B1-2AD3C49BA284}"/>
                </a:ext>
              </a:extLst>
            </p:cNvPr>
            <p:cNvSpPr/>
            <p:nvPr/>
          </p:nvSpPr>
          <p:spPr>
            <a:xfrm rot="5400000">
              <a:off x="5243451" y="20381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6596D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69" name="Graphic 68" descr="Internet Of Things with solid fill">
              <a:extLst>
                <a:ext uri="{FF2B5EF4-FFF2-40B4-BE49-F238E27FC236}">
                  <a16:creationId xmlns:a16="http://schemas.microsoft.com/office/drawing/2014/main" id="{D26F2AE7-3B3C-E8FE-C891-49D2152CA5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96029" y="661982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مجموعة 33">
            <a:extLst>
              <a:ext uri="{FF2B5EF4-FFF2-40B4-BE49-F238E27FC236}">
                <a16:creationId xmlns:a16="http://schemas.microsoft.com/office/drawing/2014/main" id="{5D45E37B-5EB3-A603-3CA4-10B64B19F0B0}"/>
              </a:ext>
            </a:extLst>
          </p:cNvPr>
          <p:cNvGrpSpPr/>
          <p:nvPr/>
        </p:nvGrpSpPr>
        <p:grpSpPr>
          <a:xfrm rot="10800000">
            <a:off x="15796375" y="-7258175"/>
            <a:ext cx="12119851" cy="12480734"/>
            <a:chOff x="9195039" y="-634806"/>
            <a:chExt cx="8216236" cy="8460884"/>
          </a:xfrm>
        </p:grpSpPr>
        <p:pic>
          <p:nvPicPr>
            <p:cNvPr id="27" name="صورة 69">
              <a:extLst>
                <a:ext uri="{FF2B5EF4-FFF2-40B4-BE49-F238E27FC236}">
                  <a16:creationId xmlns:a16="http://schemas.microsoft.com/office/drawing/2014/main" id="{94014B72-81F6-3E1E-3310-178FD840F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8" name="صورة 72">
              <a:extLst>
                <a:ext uri="{FF2B5EF4-FFF2-40B4-BE49-F238E27FC236}">
                  <a16:creationId xmlns:a16="http://schemas.microsoft.com/office/drawing/2014/main" id="{D74CD615-0EF9-4F39-76E4-D7796AA1E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9" name="صورة 78">
              <a:extLst>
                <a:ext uri="{FF2B5EF4-FFF2-40B4-BE49-F238E27FC236}">
                  <a16:creationId xmlns:a16="http://schemas.microsoft.com/office/drawing/2014/main" id="{CFC1D9AE-3EFA-C2CD-C4FA-D2131C391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30" name="صورة 77">
              <a:extLst>
                <a:ext uri="{FF2B5EF4-FFF2-40B4-BE49-F238E27FC236}">
                  <a16:creationId xmlns:a16="http://schemas.microsoft.com/office/drawing/2014/main" id="{E660F704-9AD1-85C4-3F82-DA653C67A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32" name="صورة 24">
              <a:extLst>
                <a:ext uri="{FF2B5EF4-FFF2-40B4-BE49-F238E27FC236}">
                  <a16:creationId xmlns:a16="http://schemas.microsoft.com/office/drawing/2014/main" id="{B1C99E56-9093-FF43-C7C8-DF3FBCBB2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33" name="صورة 28">
              <a:extLst>
                <a:ext uri="{FF2B5EF4-FFF2-40B4-BE49-F238E27FC236}">
                  <a16:creationId xmlns:a16="http://schemas.microsoft.com/office/drawing/2014/main" id="{47B85FF7-1205-BE55-BBD4-50B6C5E88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34" name="صورة 32">
              <a:extLst>
                <a:ext uri="{FF2B5EF4-FFF2-40B4-BE49-F238E27FC236}">
                  <a16:creationId xmlns:a16="http://schemas.microsoft.com/office/drawing/2014/main" id="{3256A5BF-0964-C8BE-3A51-A57FDEFA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20861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0"/>
                    </a14:imgEffect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rcRect/>
          <a:stretch>
            <a:fillRect t="-55000" b="-5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ربع نص 7">
            <a:extLst>
              <a:ext uri="{FF2B5EF4-FFF2-40B4-BE49-F238E27FC236}">
                <a16:creationId xmlns:a16="http://schemas.microsoft.com/office/drawing/2014/main" id="{0AF8F8E4-310D-D3DA-4036-D854338EA1E2}"/>
              </a:ext>
            </a:extLst>
          </p:cNvPr>
          <p:cNvSpPr txBox="1"/>
          <p:nvPr/>
        </p:nvSpPr>
        <p:spPr>
          <a:xfrm>
            <a:off x="17027237" y="3545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FFCC00"/>
                </a:solidFill>
                <a:cs typeface="+mj-cs"/>
              </a:rPr>
              <a:t>7</a:t>
            </a:r>
            <a:endParaRPr lang="ar-EG" sz="8800" dirty="0">
              <a:solidFill>
                <a:srgbClr val="FFCC00"/>
              </a:solidFill>
              <a:cs typeface="+mj-cs"/>
            </a:endParaRPr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87E89F6E-4E18-AC32-0781-178F8B62821B}"/>
              </a:ext>
            </a:extLst>
          </p:cNvPr>
          <p:cNvSpPr txBox="1"/>
          <p:nvPr/>
        </p:nvSpPr>
        <p:spPr>
          <a:xfrm>
            <a:off x="18025121" y="557422"/>
            <a:ext cx="92365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sz="2400" dirty="0">
                <a:solidFill>
                  <a:srgbClr val="FFCC00"/>
                </a:solidFill>
              </a:rPr>
              <a:t>الخـاتمة</a:t>
            </a:r>
          </a:p>
        </p:txBody>
      </p:sp>
      <p:sp useBgFill="1">
        <p:nvSpPr>
          <p:cNvPr id="66" name="مستطيل: زوايا مستديرة 65">
            <a:extLst>
              <a:ext uri="{FF2B5EF4-FFF2-40B4-BE49-F238E27FC236}">
                <a16:creationId xmlns:a16="http://schemas.microsoft.com/office/drawing/2014/main" id="{D97AE9EF-E407-98BE-B03D-13FEBF86E599}"/>
              </a:ext>
            </a:extLst>
          </p:cNvPr>
          <p:cNvSpPr/>
          <p:nvPr/>
        </p:nvSpPr>
        <p:spPr>
          <a:xfrm>
            <a:off x="4806461" y="332566"/>
            <a:ext cx="2579078" cy="686521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4000" b="1" dirty="0">
                <a:solidFill>
                  <a:schemeClr val="tx1"/>
                </a:solidFill>
              </a:rPr>
              <a:t>Overview</a:t>
            </a:r>
            <a:endParaRPr lang="ar-EG" sz="4000" b="1" dirty="0">
              <a:solidFill>
                <a:schemeClr val="tx1"/>
              </a:solidFill>
            </a:endParaRPr>
          </a:p>
        </p:txBody>
      </p:sp>
      <p:grpSp>
        <p:nvGrpSpPr>
          <p:cNvPr id="34" name="مجموعة 33">
            <a:extLst>
              <a:ext uri="{FF2B5EF4-FFF2-40B4-BE49-F238E27FC236}">
                <a16:creationId xmlns:a16="http://schemas.microsoft.com/office/drawing/2014/main" id="{1263B6F2-7C03-C404-D367-1C103F746728}"/>
              </a:ext>
            </a:extLst>
          </p:cNvPr>
          <p:cNvGrpSpPr/>
          <p:nvPr/>
        </p:nvGrpSpPr>
        <p:grpSpPr>
          <a:xfrm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70" name="صورة 69">
              <a:extLst>
                <a:ext uri="{FF2B5EF4-FFF2-40B4-BE49-F238E27FC236}">
                  <a16:creationId xmlns:a16="http://schemas.microsoft.com/office/drawing/2014/main" id="{9A30CF8C-86C6-D1D7-560E-AF4FD4469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73" name="صورة 72">
              <a:extLst>
                <a:ext uri="{FF2B5EF4-FFF2-40B4-BE49-F238E27FC236}">
                  <a16:creationId xmlns:a16="http://schemas.microsoft.com/office/drawing/2014/main" id="{938F82FB-BCFD-1152-A1BE-85EC99250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79" name="صورة 78">
              <a:extLst>
                <a:ext uri="{FF2B5EF4-FFF2-40B4-BE49-F238E27FC236}">
                  <a16:creationId xmlns:a16="http://schemas.microsoft.com/office/drawing/2014/main" id="{30DC45BA-9F3B-3AE7-951E-94154AC87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78" name="صورة 77">
              <a:extLst>
                <a:ext uri="{FF2B5EF4-FFF2-40B4-BE49-F238E27FC236}">
                  <a16:creationId xmlns:a16="http://schemas.microsoft.com/office/drawing/2014/main" id="{872155B2-3FAB-56ED-3F6F-2A1721C29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5" name="صورة 24">
              <a:extLst>
                <a:ext uri="{FF2B5EF4-FFF2-40B4-BE49-F238E27FC236}">
                  <a16:creationId xmlns:a16="http://schemas.microsoft.com/office/drawing/2014/main" id="{F3B62B27-718F-AD0D-D7C1-6DD8C6029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9" name="صورة 28">
              <a:extLst>
                <a:ext uri="{FF2B5EF4-FFF2-40B4-BE49-F238E27FC236}">
                  <a16:creationId xmlns:a16="http://schemas.microsoft.com/office/drawing/2014/main" id="{FB82E0DF-6D35-9B39-5030-4A5CBF0DB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33" name="صورة 32">
              <a:extLst>
                <a:ext uri="{FF2B5EF4-FFF2-40B4-BE49-F238E27FC236}">
                  <a16:creationId xmlns:a16="http://schemas.microsoft.com/office/drawing/2014/main" id="{273A8A1C-EF88-1D54-2040-7A23ACBD7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  <p:sp useBgFill="1">
        <p:nvSpPr>
          <p:cNvPr id="35" name="مستطيل: زوايا مستديرة 34">
            <a:extLst>
              <a:ext uri="{FF2B5EF4-FFF2-40B4-BE49-F238E27FC236}">
                <a16:creationId xmlns:a16="http://schemas.microsoft.com/office/drawing/2014/main" id="{E8C3CE17-D385-9E41-F909-92325DA50A11}"/>
              </a:ext>
            </a:extLst>
          </p:cNvPr>
          <p:cNvSpPr/>
          <p:nvPr/>
        </p:nvSpPr>
        <p:spPr>
          <a:xfrm rot="10800000">
            <a:off x="4299241" y="7367010"/>
            <a:ext cx="359352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E284A66-8713-14B0-2E13-858612A3D613}"/>
              </a:ext>
            </a:extLst>
          </p:cNvPr>
          <p:cNvSpPr txBox="1"/>
          <p:nvPr/>
        </p:nvSpPr>
        <p:spPr>
          <a:xfrm>
            <a:off x="200402" y="1394412"/>
            <a:ext cx="8195705" cy="461665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400" b="1" dirty="0"/>
              <a:t>Objective: </a:t>
            </a:r>
            <a:r>
              <a:rPr lang="en-US" sz="2400" dirty="0"/>
              <a:t>Design a real-time, multi-tasking embedded system.</a:t>
            </a:r>
            <a:endParaRPr lang="ar-EG" sz="2400" dirty="0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D4DF9490-9663-522E-E960-1D1C45CCDB2D}"/>
              </a:ext>
            </a:extLst>
          </p:cNvPr>
          <p:cNvSpPr txBox="1"/>
          <p:nvPr/>
        </p:nvSpPr>
        <p:spPr>
          <a:xfrm>
            <a:off x="200402" y="2029072"/>
            <a:ext cx="6263638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lang="en-US" sz="2000" b="1" dirty="0"/>
              <a:t>Concept: </a:t>
            </a:r>
            <a:r>
              <a:rPr lang="en-US" sz="2000" dirty="0"/>
              <a:t>An interactive bomb defusal simulation requiring</a:t>
            </a:r>
          </a:p>
          <a:p>
            <a:r>
              <a:rPr lang="en-US" sz="2000" dirty="0"/>
              <a:t> quick decision-making under time pressure.</a:t>
            </a:r>
            <a:endParaRPr lang="ar-EG" sz="200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5425F4E0-1A31-0EDE-B437-5CA9E308C153}"/>
              </a:ext>
            </a:extLst>
          </p:cNvPr>
          <p:cNvSpPr txBox="1"/>
          <p:nvPr/>
        </p:nvSpPr>
        <p:spPr>
          <a:xfrm>
            <a:off x="200402" y="3017491"/>
            <a:ext cx="230082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2000" b="1" dirty="0"/>
              <a:t>Gameplay Scenario:</a:t>
            </a:r>
            <a:endParaRPr lang="ar-EG" sz="2000" b="1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D93095AE-84E6-9359-9E0C-A6B6D553039F}"/>
              </a:ext>
            </a:extLst>
          </p:cNvPr>
          <p:cNvSpPr txBox="1"/>
          <p:nvPr/>
        </p:nvSpPr>
        <p:spPr>
          <a:xfrm>
            <a:off x="787055" y="3510717"/>
            <a:ext cx="5387500" cy="113877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ar-EG" dirty="0"/>
              <a:t>●</a:t>
            </a:r>
            <a:r>
              <a:rPr lang="en-US" dirty="0"/>
              <a:t> Solve an analog puzzle (Safe Dial). </a:t>
            </a:r>
            <a:endParaRPr lang="en-US" sz="800" dirty="0"/>
          </a:p>
          <a:p>
            <a:pPr algn="l"/>
            <a:endParaRPr lang="en-US" sz="700" dirty="0"/>
          </a:p>
          <a:p>
            <a:r>
              <a:rPr lang="ar-EG" dirty="0"/>
              <a:t>●</a:t>
            </a:r>
            <a:r>
              <a:rPr lang="en-US" dirty="0"/>
              <a:t> Bypass digital authentication (Password). </a:t>
            </a:r>
            <a:endParaRPr lang="en-US" sz="800" dirty="0"/>
          </a:p>
          <a:p>
            <a:endParaRPr lang="en-US" sz="700" dirty="0"/>
          </a:p>
          <a:p>
            <a:r>
              <a:rPr lang="ar-EG" dirty="0"/>
              <a:t>●</a:t>
            </a:r>
            <a:r>
              <a:rPr lang="en-US" dirty="0"/>
              <a:t> Cut the correct emergency wire before time runs out.</a:t>
            </a:r>
            <a:endParaRPr lang="ar-EG" dirty="0"/>
          </a:p>
        </p:txBody>
      </p:sp>
      <p:sp>
        <p:nvSpPr>
          <p:cNvPr id="42" name="مربع نص 2">
            <a:extLst>
              <a:ext uri="{FF2B5EF4-FFF2-40B4-BE49-F238E27FC236}">
                <a16:creationId xmlns:a16="http://schemas.microsoft.com/office/drawing/2014/main" id="{B8A8F0BD-2C25-3325-8D09-F1438E8E7A8A}"/>
              </a:ext>
            </a:extLst>
          </p:cNvPr>
          <p:cNvSpPr txBox="1"/>
          <p:nvPr/>
        </p:nvSpPr>
        <p:spPr>
          <a:xfrm>
            <a:off x="-6841617" y="38984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F4068"/>
                </a:solidFill>
                <a:cs typeface="+mj-cs"/>
              </a:rPr>
              <a:t>1</a:t>
            </a:r>
          </a:p>
        </p:txBody>
      </p:sp>
      <p:sp>
        <p:nvSpPr>
          <p:cNvPr id="43" name="مربع نص 7">
            <a:extLst>
              <a:ext uri="{FF2B5EF4-FFF2-40B4-BE49-F238E27FC236}">
                <a16:creationId xmlns:a16="http://schemas.microsoft.com/office/drawing/2014/main" id="{DC6EB1D2-7E91-EC40-17D9-137EEA60EA92}"/>
              </a:ext>
            </a:extLst>
          </p:cNvPr>
          <p:cNvSpPr txBox="1"/>
          <p:nvPr/>
        </p:nvSpPr>
        <p:spPr>
          <a:xfrm>
            <a:off x="-6789152" y="8664241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1E3E64"/>
                </a:solidFill>
                <a:cs typeface="+mj-cs"/>
              </a:rPr>
              <a:t>2</a:t>
            </a:r>
            <a:endParaRPr lang="ar-EG" sz="9600" dirty="0">
              <a:solidFill>
                <a:srgbClr val="1E3E64"/>
              </a:solidFill>
              <a:cs typeface="+mj-cs"/>
            </a:endParaRPr>
          </a:p>
        </p:txBody>
      </p:sp>
      <p:sp>
        <p:nvSpPr>
          <p:cNvPr id="44" name="مربع نص 8">
            <a:extLst>
              <a:ext uri="{FF2B5EF4-FFF2-40B4-BE49-F238E27FC236}">
                <a16:creationId xmlns:a16="http://schemas.microsoft.com/office/drawing/2014/main" id="{C6D2F674-F7C5-9865-382F-66A27723AA60}"/>
              </a:ext>
            </a:extLst>
          </p:cNvPr>
          <p:cNvSpPr txBox="1"/>
          <p:nvPr/>
        </p:nvSpPr>
        <p:spPr>
          <a:xfrm>
            <a:off x="16033328" y="11732975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165A5"/>
                </a:solidFill>
                <a:cs typeface="+mj-cs"/>
              </a:rPr>
              <a:t>4</a:t>
            </a:r>
            <a:endParaRPr lang="ar-EG" sz="8800" dirty="0">
              <a:solidFill>
                <a:srgbClr val="3165A5"/>
              </a:solidFill>
              <a:cs typeface="+mj-cs"/>
            </a:endParaRPr>
          </a:p>
        </p:txBody>
      </p:sp>
      <p:sp>
        <p:nvSpPr>
          <p:cNvPr id="53" name="مربع نص 9">
            <a:extLst>
              <a:ext uri="{FF2B5EF4-FFF2-40B4-BE49-F238E27FC236}">
                <a16:creationId xmlns:a16="http://schemas.microsoft.com/office/drawing/2014/main" id="{F0B1D987-D827-4EBD-495E-FDF3B3BD5E63}"/>
              </a:ext>
            </a:extLst>
          </p:cNvPr>
          <p:cNvSpPr txBox="1"/>
          <p:nvPr/>
        </p:nvSpPr>
        <p:spPr>
          <a:xfrm>
            <a:off x="2905136" y="12295724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214571"/>
                </a:solidFill>
                <a:latin typeface="Aptos Light" panose="020F0502020204030204" pitchFamily="34" charset="0"/>
                <a:cs typeface="+mj-cs"/>
              </a:rPr>
              <a:t>3</a:t>
            </a:r>
            <a:endParaRPr lang="ar-EG" sz="8800" dirty="0">
              <a:solidFill>
                <a:srgbClr val="214571"/>
              </a:solidFill>
              <a:latin typeface="Aptos Light" panose="020F0502020204030204" pitchFamily="34" charset="0"/>
              <a:cs typeface="+mj-cs"/>
            </a:endParaRPr>
          </a:p>
        </p:txBody>
      </p:sp>
      <p:sp>
        <p:nvSpPr>
          <p:cNvPr id="54" name="مربع نص 10">
            <a:extLst>
              <a:ext uri="{FF2B5EF4-FFF2-40B4-BE49-F238E27FC236}">
                <a16:creationId xmlns:a16="http://schemas.microsoft.com/office/drawing/2014/main" id="{9BA3A459-4EC6-D4B0-3365-B130C618DA35}"/>
              </a:ext>
            </a:extLst>
          </p:cNvPr>
          <p:cNvSpPr txBox="1"/>
          <p:nvPr/>
        </p:nvSpPr>
        <p:spPr>
          <a:xfrm>
            <a:off x="20728057" y="342900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346BAE"/>
                </a:solidFill>
                <a:cs typeface="+mj-cs"/>
              </a:rPr>
              <a:t>5</a:t>
            </a:r>
            <a:endParaRPr lang="ar-EG" sz="8800" dirty="0">
              <a:solidFill>
                <a:srgbClr val="346BAE"/>
              </a:solidFill>
              <a:cs typeface="+mj-cs"/>
            </a:endParaRPr>
          </a:p>
        </p:txBody>
      </p:sp>
      <p:sp>
        <p:nvSpPr>
          <p:cNvPr id="55" name="مربع نص 18">
            <a:extLst>
              <a:ext uri="{FF2B5EF4-FFF2-40B4-BE49-F238E27FC236}">
                <a16:creationId xmlns:a16="http://schemas.microsoft.com/office/drawing/2014/main" id="{241FBDA6-6941-4C80-C6B3-41323940C6B1}"/>
              </a:ext>
            </a:extLst>
          </p:cNvPr>
          <p:cNvSpPr txBox="1"/>
          <p:nvPr/>
        </p:nvSpPr>
        <p:spPr>
          <a:xfrm>
            <a:off x="20017760" y="-2581630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417EC7"/>
                </a:solidFill>
                <a:cs typeface="+mj-cs"/>
              </a:rPr>
              <a:t>6</a:t>
            </a:r>
            <a:endParaRPr lang="ar-EG" sz="8800" dirty="0">
              <a:solidFill>
                <a:srgbClr val="417EC7"/>
              </a:solidFill>
              <a:cs typeface="+mj-cs"/>
            </a:endParaRPr>
          </a:p>
        </p:txBody>
      </p:sp>
      <p:sp>
        <p:nvSpPr>
          <p:cNvPr id="56" name="مربع نص 19">
            <a:extLst>
              <a:ext uri="{FF2B5EF4-FFF2-40B4-BE49-F238E27FC236}">
                <a16:creationId xmlns:a16="http://schemas.microsoft.com/office/drawing/2014/main" id="{4F908191-00E5-81E2-47C2-E0CED9E80D8F}"/>
              </a:ext>
            </a:extLst>
          </p:cNvPr>
          <p:cNvSpPr txBox="1"/>
          <p:nvPr/>
        </p:nvSpPr>
        <p:spPr>
          <a:xfrm>
            <a:off x="9706820" y="-5382674"/>
            <a:ext cx="696805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8000" dirty="0">
                <a:solidFill>
                  <a:srgbClr val="6596D1"/>
                </a:solidFill>
                <a:cs typeface="+mj-cs"/>
              </a:rPr>
              <a:t>7</a:t>
            </a:r>
            <a:endParaRPr lang="ar-EG" sz="8800" dirty="0">
              <a:solidFill>
                <a:srgbClr val="6596D1"/>
              </a:solidFill>
              <a:cs typeface="+mj-cs"/>
            </a:endParaRPr>
          </a:p>
        </p:txBody>
      </p:sp>
      <p:sp>
        <p:nvSpPr>
          <p:cNvPr id="57" name="مربع نص 34">
            <a:extLst>
              <a:ext uri="{FF2B5EF4-FFF2-40B4-BE49-F238E27FC236}">
                <a16:creationId xmlns:a16="http://schemas.microsoft.com/office/drawing/2014/main" id="{A2E1B64F-8151-19B8-F8A4-ACEB0F357A21}"/>
              </a:ext>
            </a:extLst>
          </p:cNvPr>
          <p:cNvSpPr txBox="1"/>
          <p:nvPr/>
        </p:nvSpPr>
        <p:spPr>
          <a:xfrm>
            <a:off x="-9367951" y="838159"/>
            <a:ext cx="181434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Overview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58" name="مربع نص 45">
            <a:extLst>
              <a:ext uri="{FF2B5EF4-FFF2-40B4-BE49-F238E27FC236}">
                <a16:creationId xmlns:a16="http://schemas.microsoft.com/office/drawing/2014/main" id="{226AABF4-52BC-52E4-4E70-B5826FD6B12D}"/>
              </a:ext>
            </a:extLst>
          </p:cNvPr>
          <p:cNvSpPr txBox="1"/>
          <p:nvPr/>
        </p:nvSpPr>
        <p:spPr>
          <a:xfrm>
            <a:off x="-9309658" y="9075720"/>
            <a:ext cx="2157646" cy="9951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4400" b="1" baseline="-25000" dirty="0">
                <a:solidFill>
                  <a:schemeClr val="bg1"/>
                </a:solidFill>
              </a:rPr>
              <a:t>System architecture</a:t>
            </a:r>
            <a:endParaRPr lang="ar-EG" sz="4400" b="1" baseline="-25000" dirty="0">
              <a:solidFill>
                <a:schemeClr val="bg1"/>
              </a:solidFill>
            </a:endParaRPr>
          </a:p>
        </p:txBody>
      </p:sp>
      <p:sp>
        <p:nvSpPr>
          <p:cNvPr id="59" name="مربع نص 46">
            <a:extLst>
              <a:ext uri="{FF2B5EF4-FFF2-40B4-BE49-F238E27FC236}">
                <a16:creationId xmlns:a16="http://schemas.microsoft.com/office/drawing/2014/main" id="{3A711156-176B-F28B-4319-6FB5D881D38D}"/>
              </a:ext>
            </a:extLst>
          </p:cNvPr>
          <p:cNvSpPr txBox="1"/>
          <p:nvPr/>
        </p:nvSpPr>
        <p:spPr>
          <a:xfrm>
            <a:off x="200402" y="12821412"/>
            <a:ext cx="188744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</a:rPr>
              <a:t>Software</a:t>
            </a:r>
            <a:endParaRPr lang="ar-EG" sz="3200" b="1" dirty="0">
              <a:solidFill>
                <a:schemeClr val="bg1"/>
              </a:solidFill>
            </a:endParaRPr>
          </a:p>
        </p:txBody>
      </p:sp>
      <p:sp>
        <p:nvSpPr>
          <p:cNvPr id="60" name="مربع نص 47">
            <a:extLst>
              <a:ext uri="{FF2B5EF4-FFF2-40B4-BE49-F238E27FC236}">
                <a16:creationId xmlns:a16="http://schemas.microsoft.com/office/drawing/2014/main" id="{5149F0A9-95A5-E543-EE60-4267810DCE20}"/>
              </a:ext>
            </a:extLst>
          </p:cNvPr>
          <p:cNvSpPr txBox="1"/>
          <p:nvPr/>
        </p:nvSpPr>
        <p:spPr>
          <a:xfrm>
            <a:off x="16751475" y="12205882"/>
            <a:ext cx="199073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165A5"/>
                </a:solidFill>
              </a:rPr>
              <a:t>Challenges</a:t>
            </a:r>
            <a:endParaRPr lang="ar-EG" sz="2800" b="1" dirty="0">
              <a:solidFill>
                <a:srgbClr val="3165A5"/>
              </a:solidFill>
            </a:endParaRPr>
          </a:p>
        </p:txBody>
      </p:sp>
      <p:sp>
        <p:nvSpPr>
          <p:cNvPr id="61" name="مربع نص 48">
            <a:extLst>
              <a:ext uri="{FF2B5EF4-FFF2-40B4-BE49-F238E27FC236}">
                <a16:creationId xmlns:a16="http://schemas.microsoft.com/office/drawing/2014/main" id="{3E7AD7BC-0369-9A75-CB7E-D0811D6A3F3E}"/>
              </a:ext>
            </a:extLst>
          </p:cNvPr>
          <p:cNvSpPr txBox="1"/>
          <p:nvPr/>
        </p:nvSpPr>
        <p:spPr>
          <a:xfrm>
            <a:off x="21839832" y="3613665"/>
            <a:ext cx="203391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346BAE"/>
                </a:solidFill>
              </a:rPr>
              <a:t>Hardware integration</a:t>
            </a:r>
            <a:endParaRPr lang="ar-EG" sz="2800" b="1" dirty="0">
              <a:solidFill>
                <a:srgbClr val="346BAE"/>
              </a:solidFill>
            </a:endParaRPr>
          </a:p>
        </p:txBody>
      </p:sp>
      <p:sp>
        <p:nvSpPr>
          <p:cNvPr id="62" name="مربع نص 49">
            <a:extLst>
              <a:ext uri="{FF2B5EF4-FFF2-40B4-BE49-F238E27FC236}">
                <a16:creationId xmlns:a16="http://schemas.microsoft.com/office/drawing/2014/main" id="{4A31FD4A-7B6F-339F-1EBC-EEEF4F4E797E}"/>
              </a:ext>
            </a:extLst>
          </p:cNvPr>
          <p:cNvSpPr txBox="1"/>
          <p:nvPr/>
        </p:nvSpPr>
        <p:spPr>
          <a:xfrm>
            <a:off x="20985271" y="-2336775"/>
            <a:ext cx="170912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b="1" dirty="0">
                <a:solidFill>
                  <a:srgbClr val="417EC7"/>
                </a:solidFill>
              </a:rPr>
              <a:t>System endings</a:t>
            </a:r>
            <a:endParaRPr lang="ar-EG" sz="2800" b="1" dirty="0">
              <a:solidFill>
                <a:srgbClr val="417EC7"/>
              </a:solidFill>
            </a:endParaRPr>
          </a:p>
        </p:txBody>
      </p:sp>
      <p:sp>
        <p:nvSpPr>
          <p:cNvPr id="63" name="مربع نص 50">
            <a:extLst>
              <a:ext uri="{FF2B5EF4-FFF2-40B4-BE49-F238E27FC236}">
                <a16:creationId xmlns:a16="http://schemas.microsoft.com/office/drawing/2014/main" id="{1E3A356B-823A-2091-3BC1-9C8510A9210A}"/>
              </a:ext>
            </a:extLst>
          </p:cNvPr>
          <p:cNvSpPr txBox="1"/>
          <p:nvPr/>
        </p:nvSpPr>
        <p:spPr>
          <a:xfrm>
            <a:off x="10407805" y="-5074897"/>
            <a:ext cx="175163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en-US" sz="2000" b="1" dirty="0">
                <a:solidFill>
                  <a:srgbClr val="6596D1"/>
                </a:solidFill>
              </a:rPr>
              <a:t>Future </a:t>
            </a:r>
          </a:p>
          <a:p>
            <a:pPr rtl="1"/>
            <a:r>
              <a:rPr lang="en-US" sz="2000" b="1" dirty="0">
                <a:solidFill>
                  <a:srgbClr val="6596D1"/>
                </a:solidFill>
              </a:rPr>
              <a:t>Enhancements</a:t>
            </a:r>
            <a:endParaRPr lang="ar-EG" sz="2000" b="1" dirty="0">
              <a:solidFill>
                <a:srgbClr val="6596D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794247B-AFF8-D877-63F6-1784723D141E}"/>
              </a:ext>
            </a:extLst>
          </p:cNvPr>
          <p:cNvGrpSpPr/>
          <p:nvPr/>
        </p:nvGrpSpPr>
        <p:grpSpPr>
          <a:xfrm>
            <a:off x="-5427590" y="-241053"/>
            <a:ext cx="2743200" cy="2743200"/>
            <a:chOff x="2862970" y="1679187"/>
            <a:chExt cx="2743200" cy="2743200"/>
          </a:xfrm>
          <a:solidFill>
            <a:srgbClr val="1F4068"/>
          </a:solidFill>
        </p:grpSpPr>
        <p:sp>
          <p:nvSpPr>
            <p:cNvPr id="65" name="شكل حر: شكل 17">
              <a:extLst>
                <a:ext uri="{FF2B5EF4-FFF2-40B4-BE49-F238E27FC236}">
                  <a16:creationId xmlns:a16="http://schemas.microsoft.com/office/drawing/2014/main" id="{CBA58219-7CC5-7B27-8E1F-0BC3B7F65F41}"/>
                </a:ext>
              </a:extLst>
            </p:cNvPr>
            <p:cNvSpPr>
              <a:spLocks/>
            </p:cNvSpPr>
            <p:nvPr/>
          </p:nvSpPr>
          <p:spPr>
            <a:xfrm>
              <a:off x="2862970" y="167918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grpFill/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67" name="صورة 44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AF0529A2-C316-03A7-7CC3-17E771064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36702" y="1973932"/>
              <a:ext cx="997868" cy="997868"/>
            </a:xfrm>
            <a:prstGeom prst="rect">
              <a:avLst/>
            </a:prstGeom>
            <a:grpFill/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09467D7-B3B9-1954-69F5-2B9A792D2ACB}"/>
              </a:ext>
            </a:extLst>
          </p:cNvPr>
          <p:cNvGrpSpPr/>
          <p:nvPr/>
        </p:nvGrpSpPr>
        <p:grpSpPr>
          <a:xfrm>
            <a:off x="-5004403" y="7906870"/>
            <a:ext cx="2743200" cy="2743200"/>
            <a:chOff x="3255677" y="3121510"/>
            <a:chExt cx="2743200" cy="2743200"/>
          </a:xfrm>
        </p:grpSpPr>
        <p:sp>
          <p:nvSpPr>
            <p:cNvPr id="69" name="شكل حر: شكل 16">
              <a:extLst>
                <a:ext uri="{FF2B5EF4-FFF2-40B4-BE49-F238E27FC236}">
                  <a16:creationId xmlns:a16="http://schemas.microsoft.com/office/drawing/2014/main" id="{EC15C80B-A685-231C-4187-1394EC8053FD}"/>
                </a:ext>
              </a:extLst>
            </p:cNvPr>
            <p:cNvSpPr/>
            <p:nvPr/>
          </p:nvSpPr>
          <p:spPr>
            <a:xfrm rot="18900000">
              <a:off x="3255677" y="3121510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1E3E64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71" name="Graphic 70" descr="Decision chart with solid fill">
              <a:extLst>
                <a:ext uri="{FF2B5EF4-FFF2-40B4-BE49-F238E27FC236}">
                  <a16:creationId xmlns:a16="http://schemas.microsoft.com/office/drawing/2014/main" id="{AF2AC4AB-7122-B012-8A5E-193C68BD37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455706" y="3878881"/>
              <a:ext cx="914400" cy="914400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A241BBF-47B2-A932-CC82-B3CFFBDE7C1D}"/>
              </a:ext>
            </a:extLst>
          </p:cNvPr>
          <p:cNvGrpSpPr/>
          <p:nvPr/>
        </p:nvGrpSpPr>
        <p:grpSpPr>
          <a:xfrm>
            <a:off x="4577461" y="11191982"/>
            <a:ext cx="2743200" cy="2743200"/>
            <a:chOff x="4577461" y="3907262"/>
            <a:chExt cx="2743200" cy="2743200"/>
          </a:xfrm>
        </p:grpSpPr>
        <p:sp>
          <p:nvSpPr>
            <p:cNvPr id="74" name="شكل حر: شكل 15">
              <a:extLst>
                <a:ext uri="{FF2B5EF4-FFF2-40B4-BE49-F238E27FC236}">
                  <a16:creationId xmlns:a16="http://schemas.microsoft.com/office/drawing/2014/main" id="{3CDBDEBC-B398-580F-C0F6-66F045FB2E0B}"/>
                </a:ext>
              </a:extLst>
            </p:cNvPr>
            <p:cNvSpPr/>
            <p:nvPr/>
          </p:nvSpPr>
          <p:spPr>
            <a:xfrm rot="16200000">
              <a:off x="4577461" y="390726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21457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75" name="Graphic 74" descr="Cmd Terminal with solid fill">
              <a:extLst>
                <a:ext uri="{FF2B5EF4-FFF2-40B4-BE49-F238E27FC236}">
                  <a16:creationId xmlns:a16="http://schemas.microsoft.com/office/drawing/2014/main" id="{00F2DF9A-A42D-CCDC-CC43-CBA350CC22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25942" y="5454482"/>
              <a:ext cx="914400" cy="9144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AC02F83-53C4-B330-D9A6-4868E30A9868}"/>
              </a:ext>
            </a:extLst>
          </p:cNvPr>
          <p:cNvGrpSpPr/>
          <p:nvPr/>
        </p:nvGrpSpPr>
        <p:grpSpPr>
          <a:xfrm>
            <a:off x="12029067" y="10526585"/>
            <a:ext cx="2743200" cy="2743200"/>
            <a:chOff x="6054987" y="3546665"/>
            <a:chExt cx="2743200" cy="2743200"/>
          </a:xfrm>
        </p:grpSpPr>
        <p:sp>
          <p:nvSpPr>
            <p:cNvPr id="77" name="شكل حر: شكل 14">
              <a:extLst>
                <a:ext uri="{FF2B5EF4-FFF2-40B4-BE49-F238E27FC236}">
                  <a16:creationId xmlns:a16="http://schemas.microsoft.com/office/drawing/2014/main" id="{482F862C-6C93-454D-5D03-F3218B249046}"/>
                </a:ext>
              </a:extLst>
            </p:cNvPr>
            <p:cNvSpPr/>
            <p:nvPr/>
          </p:nvSpPr>
          <p:spPr>
            <a:xfrm rot="13500000">
              <a:off x="6054987" y="3546665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165A5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80" name="Graphic 79" descr="Left Brain with solid fill">
              <a:extLst>
                <a:ext uri="{FF2B5EF4-FFF2-40B4-BE49-F238E27FC236}">
                  <a16:creationId xmlns:a16="http://schemas.microsoft.com/office/drawing/2014/main" id="{92C0E3C3-91BD-3880-1FD6-02BFF2EAF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69387" y="5162094"/>
              <a:ext cx="914400" cy="9144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490C601-25DA-3270-CF8B-42C03606CCF0}"/>
              </a:ext>
            </a:extLst>
          </p:cNvPr>
          <p:cNvGrpSpPr/>
          <p:nvPr/>
        </p:nvGrpSpPr>
        <p:grpSpPr>
          <a:xfrm>
            <a:off x="17089862" y="2242612"/>
            <a:ext cx="2743200" cy="2743200"/>
            <a:chOff x="6818102" y="2242612"/>
            <a:chExt cx="2743200" cy="2743200"/>
          </a:xfrm>
        </p:grpSpPr>
        <p:sp>
          <p:nvSpPr>
            <p:cNvPr id="82" name="شكل حر: شكل 13">
              <a:extLst>
                <a:ext uri="{FF2B5EF4-FFF2-40B4-BE49-F238E27FC236}">
                  <a16:creationId xmlns:a16="http://schemas.microsoft.com/office/drawing/2014/main" id="{AEC47583-FF44-8D9A-E021-6273B1FB50F6}"/>
                </a:ext>
              </a:extLst>
            </p:cNvPr>
            <p:cNvSpPr/>
            <p:nvPr/>
          </p:nvSpPr>
          <p:spPr>
            <a:xfrm rot="10800000">
              <a:off x="6818102" y="22426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346BAE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83" name="Graphic 82" descr="Processor with solid fill">
              <a:extLst>
                <a:ext uri="{FF2B5EF4-FFF2-40B4-BE49-F238E27FC236}">
                  <a16:creationId xmlns:a16="http://schemas.microsoft.com/office/drawing/2014/main" id="{7B94FAF6-B89F-ABED-AC5D-020ADCC99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81504" y="3668293"/>
              <a:ext cx="914400" cy="91440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796D37D-6AB6-87A9-5379-DF8DD841021E}"/>
              </a:ext>
            </a:extLst>
          </p:cNvPr>
          <p:cNvGrpSpPr/>
          <p:nvPr/>
        </p:nvGrpSpPr>
        <p:grpSpPr>
          <a:xfrm>
            <a:off x="16322141" y="-3396188"/>
            <a:ext cx="2743200" cy="2743200"/>
            <a:chOff x="6446621" y="871012"/>
            <a:chExt cx="2743200" cy="2743200"/>
          </a:xfrm>
        </p:grpSpPr>
        <p:sp>
          <p:nvSpPr>
            <p:cNvPr id="85" name="شكل حر: شكل 12">
              <a:extLst>
                <a:ext uri="{FF2B5EF4-FFF2-40B4-BE49-F238E27FC236}">
                  <a16:creationId xmlns:a16="http://schemas.microsoft.com/office/drawing/2014/main" id="{EF9E4673-DEB3-438F-D0E2-EB1F36FFC950}"/>
                </a:ext>
              </a:extLst>
            </p:cNvPr>
            <p:cNvSpPr/>
            <p:nvPr/>
          </p:nvSpPr>
          <p:spPr>
            <a:xfrm rot="8100000">
              <a:off x="6446621" y="871012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417EC7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/>
            </a:p>
          </p:txBody>
        </p:sp>
        <p:pic>
          <p:nvPicPr>
            <p:cNvPr id="86" name="صورة 42" descr="صورة تحتوي على أسود, الظلام&#10;&#10;قد يكون المحتوى المعد بواسطة الذكاء الاصطناعي غير صحيح.">
              <a:extLst>
                <a:ext uri="{FF2B5EF4-FFF2-40B4-BE49-F238E27FC236}">
                  <a16:creationId xmlns:a16="http://schemas.microsoft.com/office/drawing/2014/main" id="{32093145-F89A-85A4-CE41-41AABC671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00686" y="1799573"/>
              <a:ext cx="1046585" cy="1046585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7C68E-3E0C-2D54-075E-DCB9D6D0046B}"/>
              </a:ext>
            </a:extLst>
          </p:cNvPr>
          <p:cNvGrpSpPr/>
          <p:nvPr/>
        </p:nvGrpSpPr>
        <p:grpSpPr>
          <a:xfrm>
            <a:off x="5202811" y="-5488909"/>
            <a:ext cx="2743200" cy="2743200"/>
            <a:chOff x="5243451" y="203817"/>
            <a:chExt cx="2743200" cy="2743200"/>
          </a:xfrm>
        </p:grpSpPr>
        <p:sp>
          <p:nvSpPr>
            <p:cNvPr id="88" name="شكل حر: شكل 11">
              <a:extLst>
                <a:ext uri="{FF2B5EF4-FFF2-40B4-BE49-F238E27FC236}">
                  <a16:creationId xmlns:a16="http://schemas.microsoft.com/office/drawing/2014/main" id="{5CC19CB4-5EB4-047B-6FA4-E5171799901A}"/>
                </a:ext>
              </a:extLst>
            </p:cNvPr>
            <p:cNvSpPr/>
            <p:nvPr/>
          </p:nvSpPr>
          <p:spPr>
            <a:xfrm rot="5400000">
              <a:off x="5243451" y="203817"/>
              <a:ext cx="2743200" cy="2743200"/>
            </a:xfrm>
            <a:custGeom>
              <a:avLst/>
              <a:gdLst>
                <a:gd name="connsiteX0" fmla="*/ 457209 w 2743200"/>
                <a:gd name="connsiteY0" fmla="*/ 0 h 2743200"/>
                <a:gd name="connsiteX1" fmla="*/ 2743200 w 2743200"/>
                <a:gd name="connsiteY1" fmla="*/ 0 h 2743200"/>
                <a:gd name="connsiteX2" fmla="*/ 2743200 w 2743200"/>
                <a:gd name="connsiteY2" fmla="*/ 46092 h 2743200"/>
                <a:gd name="connsiteX3" fmla="*/ 46092 w 2743200"/>
                <a:gd name="connsiteY3" fmla="*/ 2743200 h 2743200"/>
                <a:gd name="connsiteX4" fmla="*/ 0 w 2743200"/>
                <a:gd name="connsiteY4" fmla="*/ 2743200 h 2743200"/>
                <a:gd name="connsiteX5" fmla="*/ 0 w 2743200"/>
                <a:gd name="connsiteY5" fmla="*/ 457209 h 2743200"/>
                <a:gd name="connsiteX6" fmla="*/ 457209 w 2743200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3200" h="2743200">
                  <a:moveTo>
                    <a:pt x="457209" y="0"/>
                  </a:moveTo>
                  <a:lnTo>
                    <a:pt x="2743200" y="0"/>
                  </a:lnTo>
                  <a:lnTo>
                    <a:pt x="2743200" y="46092"/>
                  </a:lnTo>
                  <a:lnTo>
                    <a:pt x="46092" y="2743200"/>
                  </a:lnTo>
                  <a:lnTo>
                    <a:pt x="0" y="2743200"/>
                  </a:lnTo>
                  <a:lnTo>
                    <a:pt x="0" y="457209"/>
                  </a:lnTo>
                  <a:cubicBezTo>
                    <a:pt x="0" y="204699"/>
                    <a:pt x="204699" y="0"/>
                    <a:pt x="457209" y="0"/>
                  </a:cubicBezTo>
                  <a:close/>
                </a:path>
              </a:pathLst>
            </a:custGeom>
            <a:solidFill>
              <a:srgbClr val="6596D1"/>
            </a:solidFill>
            <a:effectLst>
              <a:outerShdw blurRad="50800" dist="381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EG" dirty="0"/>
            </a:p>
          </p:txBody>
        </p:sp>
        <p:pic>
          <p:nvPicPr>
            <p:cNvPr id="89" name="Graphic 88" descr="Internet Of Things with solid fill">
              <a:extLst>
                <a:ext uri="{FF2B5EF4-FFF2-40B4-BE49-F238E27FC236}">
                  <a16:creationId xmlns:a16="http://schemas.microsoft.com/office/drawing/2014/main" id="{18240B02-9F65-CE98-A13B-4824A454FE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696029" y="6619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239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8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4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60"/>
                            </p:stCondLst>
                            <p:childTnLst>
                              <p:par>
                                <p:cTn id="2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 contrast="1000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A6795-4433-AD30-6C11-69239561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863F74C6-4E05-4734-F401-443DFEF15A8D}"/>
              </a:ext>
            </a:extLst>
          </p:cNvPr>
          <p:cNvSpPr/>
          <p:nvPr/>
        </p:nvSpPr>
        <p:spPr>
          <a:xfrm rot="10800000">
            <a:off x="5063381" y="7475336"/>
            <a:ext cx="206524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Software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58B18CA3-A3B1-84A7-8759-CFC164D93838}"/>
              </a:ext>
            </a:extLst>
          </p:cNvPr>
          <p:cNvSpPr txBox="1"/>
          <p:nvPr/>
        </p:nvSpPr>
        <p:spPr>
          <a:xfrm>
            <a:off x="127179" y="1358601"/>
            <a:ext cx="6561861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ar-EG" sz="2800" b="1" dirty="0"/>
              <a:t> </a:t>
            </a:r>
            <a:r>
              <a:rPr lang="en-US" sz="2800" b="1" dirty="0"/>
              <a:t>Design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 </a:t>
            </a:r>
            <a:r>
              <a:rPr lang="en-US" sz="2400" dirty="0"/>
              <a:t>Bare-metal,</a:t>
            </a:r>
            <a:endParaRPr lang="ar-EG" sz="2400" dirty="0"/>
          </a:p>
          <a:p>
            <a:r>
              <a:rPr lang="en-US" sz="2400" dirty="0"/>
              <a:t> </a:t>
            </a:r>
            <a:r>
              <a:rPr lang="ar-EG" sz="2400" dirty="0"/>
              <a:t> </a:t>
            </a:r>
            <a:r>
              <a:rPr lang="en-US" sz="2400" dirty="0"/>
              <a:t>layered software architecture for high reusability.</a:t>
            </a:r>
            <a:r>
              <a:rPr lang="ar-EG" sz="2000" b="1" dirty="0"/>
              <a:t> </a:t>
            </a:r>
          </a:p>
        </p:txBody>
      </p:sp>
      <p:sp useBgFill="1">
        <p:nvSpPr>
          <p:cNvPr id="16" name="مستطيل: زوايا مستديرة 34">
            <a:extLst>
              <a:ext uri="{FF2B5EF4-FFF2-40B4-BE49-F238E27FC236}">
                <a16:creationId xmlns:a16="http://schemas.microsoft.com/office/drawing/2014/main" id="{1074B1B2-8554-C4C5-2100-904C79F5AB16}"/>
              </a:ext>
            </a:extLst>
          </p:cNvPr>
          <p:cNvSpPr/>
          <p:nvPr/>
        </p:nvSpPr>
        <p:spPr>
          <a:xfrm>
            <a:off x="4299240" y="419432"/>
            <a:ext cx="359352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18" name="مربع نص 11">
            <a:extLst>
              <a:ext uri="{FF2B5EF4-FFF2-40B4-BE49-F238E27FC236}">
                <a16:creationId xmlns:a16="http://schemas.microsoft.com/office/drawing/2014/main" id="{99A3F5C4-8190-8E3D-C70E-97D8BA6C78F9}"/>
              </a:ext>
            </a:extLst>
          </p:cNvPr>
          <p:cNvSpPr txBox="1"/>
          <p:nvPr/>
        </p:nvSpPr>
        <p:spPr>
          <a:xfrm>
            <a:off x="127179" y="2852522"/>
            <a:ext cx="5247783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MCAL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400" dirty="0"/>
              <a:t>DIO, ADC, Timer0 (CTC), </a:t>
            </a:r>
            <a:endParaRPr lang="ar-EG" sz="2400" dirty="0"/>
          </a:p>
          <a:p>
            <a:r>
              <a:rPr lang="ar-EG" sz="2400" dirty="0"/>
              <a:t> </a:t>
            </a:r>
            <a:r>
              <a:rPr lang="en-US" sz="2400" dirty="0"/>
              <a:t>Timer1 (PWM), UART, Global Interrupts.</a:t>
            </a:r>
            <a:endParaRPr lang="ar-EG" sz="2000" b="1" dirty="0"/>
          </a:p>
        </p:txBody>
      </p:sp>
      <p:sp>
        <p:nvSpPr>
          <p:cNvPr id="19" name="مربع نص 11">
            <a:extLst>
              <a:ext uri="{FF2B5EF4-FFF2-40B4-BE49-F238E27FC236}">
                <a16:creationId xmlns:a16="http://schemas.microsoft.com/office/drawing/2014/main" id="{8089943F-6EF7-8BD9-D6EE-0CC9FCE33858}"/>
              </a:ext>
            </a:extLst>
          </p:cNvPr>
          <p:cNvSpPr txBox="1"/>
          <p:nvPr/>
        </p:nvSpPr>
        <p:spPr>
          <a:xfrm>
            <a:off x="136541" y="4258237"/>
            <a:ext cx="6552499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HAL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400" dirty="0"/>
              <a:t>LCD (4-bit), Keypad (4x4), </a:t>
            </a:r>
            <a:endParaRPr lang="ar-EG" sz="2400" dirty="0"/>
          </a:p>
          <a:p>
            <a:r>
              <a:rPr lang="ar-EG" sz="2400" dirty="0"/>
              <a:t> </a:t>
            </a:r>
            <a:r>
              <a:rPr lang="en-US" sz="2400" dirty="0"/>
              <a:t>7-Segment (via Shift Register), Servo &amp; DC Motors.</a:t>
            </a:r>
            <a:endParaRPr lang="ar-EG" sz="2000" b="1" dirty="0"/>
          </a:p>
        </p:txBody>
      </p:sp>
      <p:sp>
        <p:nvSpPr>
          <p:cNvPr id="20" name="مربع نص 11">
            <a:extLst>
              <a:ext uri="{FF2B5EF4-FFF2-40B4-BE49-F238E27FC236}">
                <a16:creationId xmlns:a16="http://schemas.microsoft.com/office/drawing/2014/main" id="{3F0952D1-6B9E-9602-5E29-7B608A6E9098}"/>
              </a:ext>
            </a:extLst>
          </p:cNvPr>
          <p:cNvSpPr txBox="1"/>
          <p:nvPr/>
        </p:nvSpPr>
        <p:spPr>
          <a:xfrm>
            <a:off x="136541" y="5663952"/>
            <a:ext cx="6823471" cy="954107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APP Layer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400" dirty="0"/>
              <a:t>A State Machine managing the complete game logic.</a:t>
            </a:r>
            <a:endParaRPr lang="ar-EG" sz="2000" b="1" dirty="0"/>
          </a:p>
        </p:txBody>
      </p:sp>
      <p:grpSp>
        <p:nvGrpSpPr>
          <p:cNvPr id="22" name="مجموعة 33">
            <a:extLst>
              <a:ext uri="{FF2B5EF4-FFF2-40B4-BE49-F238E27FC236}">
                <a16:creationId xmlns:a16="http://schemas.microsoft.com/office/drawing/2014/main" id="{23B3E476-3F1C-8207-20B8-0025DA067122}"/>
              </a:ext>
            </a:extLst>
          </p:cNvPr>
          <p:cNvGrpSpPr/>
          <p:nvPr/>
        </p:nvGrpSpPr>
        <p:grpSpPr>
          <a:xfrm rot="2899240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23" name="صورة 69">
              <a:extLst>
                <a:ext uri="{FF2B5EF4-FFF2-40B4-BE49-F238E27FC236}">
                  <a16:creationId xmlns:a16="http://schemas.microsoft.com/office/drawing/2014/main" id="{C8FB0DD7-3B1C-FFE8-1618-FF1042B6E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4" name="صورة 72">
              <a:extLst>
                <a:ext uri="{FF2B5EF4-FFF2-40B4-BE49-F238E27FC236}">
                  <a16:creationId xmlns:a16="http://schemas.microsoft.com/office/drawing/2014/main" id="{9B165AF8-023F-AF1C-FDCD-7F2BC4F3C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5" name="صورة 78">
              <a:extLst>
                <a:ext uri="{FF2B5EF4-FFF2-40B4-BE49-F238E27FC236}">
                  <a16:creationId xmlns:a16="http://schemas.microsoft.com/office/drawing/2014/main" id="{8311DFFA-0CD0-C508-BF96-7D9258C4D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6" name="صورة 77">
              <a:extLst>
                <a:ext uri="{FF2B5EF4-FFF2-40B4-BE49-F238E27FC236}">
                  <a16:creationId xmlns:a16="http://schemas.microsoft.com/office/drawing/2014/main" id="{87A5058D-8BEC-AC4A-4EC7-64A6711D4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7" name="صورة 24">
              <a:extLst>
                <a:ext uri="{FF2B5EF4-FFF2-40B4-BE49-F238E27FC236}">
                  <a16:creationId xmlns:a16="http://schemas.microsoft.com/office/drawing/2014/main" id="{E101653F-7CE1-A91B-23EE-715451D79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8" name="صورة 28">
              <a:extLst>
                <a:ext uri="{FF2B5EF4-FFF2-40B4-BE49-F238E27FC236}">
                  <a16:creationId xmlns:a16="http://schemas.microsoft.com/office/drawing/2014/main" id="{002571EE-8961-53EC-9C36-C6CB29452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29" name="صورة 32">
              <a:extLst>
                <a:ext uri="{FF2B5EF4-FFF2-40B4-BE49-F238E27FC236}">
                  <a16:creationId xmlns:a16="http://schemas.microsoft.com/office/drawing/2014/main" id="{CA5EC501-459B-6093-2861-5F705094B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200360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46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2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400"/>
                            </p:stCondLst>
                            <p:childTnLst>
                              <p:par>
                                <p:cTn id="2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 contrast="1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F62C2-6E33-1DED-A586-0E1E4FAF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مستطيل: زوايا مستديرة 18">
            <a:extLst>
              <a:ext uri="{FF2B5EF4-FFF2-40B4-BE49-F238E27FC236}">
                <a16:creationId xmlns:a16="http://schemas.microsoft.com/office/drawing/2014/main" id="{2C7C5B99-6709-3C0C-FCA4-419FEF146805}"/>
              </a:ext>
            </a:extLst>
          </p:cNvPr>
          <p:cNvSpPr/>
          <p:nvPr/>
        </p:nvSpPr>
        <p:spPr>
          <a:xfrm rot="10800000">
            <a:off x="4660796" y="7483681"/>
            <a:ext cx="2219568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Challenges</a:t>
            </a:r>
          </a:p>
        </p:txBody>
      </p:sp>
      <p:sp useBgFill="1">
        <p:nvSpPr>
          <p:cNvPr id="4" name="مستطيل: زوايا مستديرة 10">
            <a:extLst>
              <a:ext uri="{FF2B5EF4-FFF2-40B4-BE49-F238E27FC236}">
                <a16:creationId xmlns:a16="http://schemas.microsoft.com/office/drawing/2014/main" id="{BAB05FC1-D4AE-7F4E-C711-7D96BE3E5F75}"/>
              </a:ext>
            </a:extLst>
          </p:cNvPr>
          <p:cNvSpPr/>
          <p:nvPr/>
        </p:nvSpPr>
        <p:spPr>
          <a:xfrm>
            <a:off x="4737960" y="492019"/>
            <a:ext cx="206524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Software</a:t>
            </a:r>
          </a:p>
        </p:txBody>
      </p:sp>
      <p:sp>
        <p:nvSpPr>
          <p:cNvPr id="5" name="مربع نص 11">
            <a:extLst>
              <a:ext uri="{FF2B5EF4-FFF2-40B4-BE49-F238E27FC236}">
                <a16:creationId xmlns:a16="http://schemas.microsoft.com/office/drawing/2014/main" id="{0F763425-AAB8-8076-8B51-B30CD613B406}"/>
              </a:ext>
            </a:extLst>
          </p:cNvPr>
          <p:cNvSpPr txBox="1"/>
          <p:nvPr/>
        </p:nvSpPr>
        <p:spPr>
          <a:xfrm>
            <a:off x="127179" y="1543267"/>
            <a:ext cx="7828490" cy="954107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ar-EG" sz="2800" b="1" dirty="0"/>
              <a:t> </a:t>
            </a:r>
            <a:r>
              <a:rPr lang="en-US" sz="2800" b="1" dirty="0"/>
              <a:t>Non-Blocking Architecture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 </a:t>
            </a:r>
            <a:r>
              <a:rPr lang="en-US" sz="2400" dirty="0"/>
              <a:t>Completely eliminated _</a:t>
            </a:r>
            <a:r>
              <a:rPr lang="en-US" sz="2400" dirty="0" err="1"/>
              <a:t>delay_ms</a:t>
            </a:r>
            <a:r>
              <a:rPr lang="en-US" sz="2400" dirty="0"/>
              <a:t>() in the main super loop.</a:t>
            </a:r>
            <a:r>
              <a:rPr lang="ar-EG" sz="2000" b="1" dirty="0"/>
              <a:t> </a:t>
            </a:r>
          </a:p>
        </p:txBody>
      </p:sp>
      <p:sp>
        <p:nvSpPr>
          <p:cNvPr id="6" name="مربع نص 11">
            <a:extLst>
              <a:ext uri="{FF2B5EF4-FFF2-40B4-BE49-F238E27FC236}">
                <a16:creationId xmlns:a16="http://schemas.microsoft.com/office/drawing/2014/main" id="{0FFF9D6C-5F81-5C22-ECC5-FDA7B04A1C66}"/>
              </a:ext>
            </a:extLst>
          </p:cNvPr>
          <p:cNvSpPr txBox="1"/>
          <p:nvPr/>
        </p:nvSpPr>
        <p:spPr>
          <a:xfrm>
            <a:off x="127179" y="2678483"/>
            <a:ext cx="6097631" cy="1692771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Real-Time Processing</a:t>
            </a:r>
            <a:r>
              <a:rPr lang="ar-EG" sz="2800" b="1" dirty="0"/>
              <a:t>:</a:t>
            </a:r>
          </a:p>
          <a:p>
            <a:r>
              <a:rPr lang="en-US" sz="2800" b="1" dirty="0"/>
              <a:t> </a:t>
            </a:r>
            <a:r>
              <a:rPr lang="en-US" sz="2400" dirty="0"/>
              <a:t>Simultaneous execution of sensor reading, </a:t>
            </a:r>
          </a:p>
          <a:p>
            <a:r>
              <a:rPr lang="en-US" sz="2400" dirty="0"/>
              <a:t> command reception, </a:t>
            </a:r>
          </a:p>
          <a:p>
            <a:r>
              <a:rPr lang="en-US" sz="2400" dirty="0"/>
              <a:t> and display updates without system freezing.</a:t>
            </a:r>
            <a:r>
              <a:rPr lang="ar-EG" sz="2400" dirty="0"/>
              <a:t> </a:t>
            </a:r>
          </a:p>
        </p:txBody>
      </p:sp>
      <p:sp>
        <p:nvSpPr>
          <p:cNvPr id="7" name="مربع نص 11">
            <a:extLst>
              <a:ext uri="{FF2B5EF4-FFF2-40B4-BE49-F238E27FC236}">
                <a16:creationId xmlns:a16="http://schemas.microsoft.com/office/drawing/2014/main" id="{839685ED-E49E-811C-AB5E-9CE5E73378B4}"/>
              </a:ext>
            </a:extLst>
          </p:cNvPr>
          <p:cNvSpPr txBox="1"/>
          <p:nvPr/>
        </p:nvSpPr>
        <p:spPr>
          <a:xfrm>
            <a:off x="127179" y="4552364"/>
            <a:ext cx="6376233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ar-EG" sz="2800" b="1" dirty="0"/>
              <a:t> </a:t>
            </a:r>
            <a:r>
              <a:rPr lang="en-US" sz="2800" b="1" dirty="0"/>
              <a:t>State Machine Logic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 </a:t>
            </a:r>
            <a:r>
              <a:rPr lang="en-US" sz="2400" dirty="0"/>
              <a:t>Parallel execution of game puzzles alongside </a:t>
            </a:r>
          </a:p>
          <a:p>
            <a:r>
              <a:rPr lang="en-US" sz="2400" dirty="0"/>
              <a:t>   the countdown timer and hardware monitoring.</a:t>
            </a:r>
            <a:endParaRPr lang="ar-EG" sz="2000" b="1" dirty="0"/>
          </a:p>
        </p:txBody>
      </p:sp>
      <p:grpSp>
        <p:nvGrpSpPr>
          <p:cNvPr id="8" name="مجموعة 33">
            <a:extLst>
              <a:ext uri="{FF2B5EF4-FFF2-40B4-BE49-F238E27FC236}">
                <a16:creationId xmlns:a16="http://schemas.microsoft.com/office/drawing/2014/main" id="{A70454A5-B385-F99E-D45D-175137F53283}"/>
              </a:ext>
            </a:extLst>
          </p:cNvPr>
          <p:cNvGrpSpPr/>
          <p:nvPr/>
        </p:nvGrpSpPr>
        <p:grpSpPr>
          <a:xfrm rot="6077402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9" name="صورة 69">
              <a:extLst>
                <a:ext uri="{FF2B5EF4-FFF2-40B4-BE49-F238E27FC236}">
                  <a16:creationId xmlns:a16="http://schemas.microsoft.com/office/drawing/2014/main" id="{B0450A9E-99A3-D768-67DA-32F8009BD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0" name="صورة 72">
              <a:extLst>
                <a:ext uri="{FF2B5EF4-FFF2-40B4-BE49-F238E27FC236}">
                  <a16:creationId xmlns:a16="http://schemas.microsoft.com/office/drawing/2014/main" id="{A5FD0D97-0083-343B-00E7-4327088DC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1" name="صورة 78">
              <a:extLst>
                <a:ext uri="{FF2B5EF4-FFF2-40B4-BE49-F238E27FC236}">
                  <a16:creationId xmlns:a16="http://schemas.microsoft.com/office/drawing/2014/main" id="{1601AEDA-A698-E0DB-EB6D-0862968E3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2" name="صورة 77">
              <a:extLst>
                <a:ext uri="{FF2B5EF4-FFF2-40B4-BE49-F238E27FC236}">
                  <a16:creationId xmlns:a16="http://schemas.microsoft.com/office/drawing/2014/main" id="{3AB2E212-4F09-E360-F504-C2E33B4E3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3" name="صورة 24">
              <a:extLst>
                <a:ext uri="{FF2B5EF4-FFF2-40B4-BE49-F238E27FC236}">
                  <a16:creationId xmlns:a16="http://schemas.microsoft.com/office/drawing/2014/main" id="{43FCB7AD-E676-C389-7498-161E9D55F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4" name="صورة 28">
              <a:extLst>
                <a:ext uri="{FF2B5EF4-FFF2-40B4-BE49-F238E27FC236}">
                  <a16:creationId xmlns:a16="http://schemas.microsoft.com/office/drawing/2014/main" id="{0262E3E4-15F8-D438-7C6D-65A551C51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25" name="صورة 32">
              <a:extLst>
                <a:ext uri="{FF2B5EF4-FFF2-40B4-BE49-F238E27FC236}">
                  <a16:creationId xmlns:a16="http://schemas.microsoft.com/office/drawing/2014/main" id="{B11187D9-CBF8-84FB-2823-81D20BF22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121546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8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12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brightnessContrast bright="-67000" contrast="13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3D5F9-518B-31BC-A5E2-26C1C17D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CB11BD07-2EFB-3AA5-58D6-0EFDCBFFF53C}"/>
              </a:ext>
            </a:extLst>
          </p:cNvPr>
          <p:cNvSpPr/>
          <p:nvPr/>
        </p:nvSpPr>
        <p:spPr>
          <a:xfrm rot="10800000">
            <a:off x="4079436" y="7633977"/>
            <a:ext cx="403313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Hardware integration</a:t>
            </a:r>
          </a:p>
        </p:txBody>
      </p:sp>
      <p:sp useBgFill="1">
        <p:nvSpPr>
          <p:cNvPr id="13" name="مستطيل: زوايا مستديرة 18">
            <a:extLst>
              <a:ext uri="{FF2B5EF4-FFF2-40B4-BE49-F238E27FC236}">
                <a16:creationId xmlns:a16="http://schemas.microsoft.com/office/drawing/2014/main" id="{51028DB5-C6E3-A52C-1355-463BB14B9F2A}"/>
              </a:ext>
            </a:extLst>
          </p:cNvPr>
          <p:cNvSpPr/>
          <p:nvPr/>
        </p:nvSpPr>
        <p:spPr>
          <a:xfrm>
            <a:off x="4986216" y="513140"/>
            <a:ext cx="2219568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14" name="مربع نص 11">
            <a:extLst>
              <a:ext uri="{FF2B5EF4-FFF2-40B4-BE49-F238E27FC236}">
                <a16:creationId xmlns:a16="http://schemas.microsoft.com/office/drawing/2014/main" id="{37B3409E-C383-795D-F8F0-850AD0DF61FD}"/>
              </a:ext>
            </a:extLst>
          </p:cNvPr>
          <p:cNvSpPr txBox="1"/>
          <p:nvPr/>
        </p:nvSpPr>
        <p:spPr>
          <a:xfrm>
            <a:off x="127179" y="1508187"/>
            <a:ext cx="6813212" cy="1692771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Interrupt-Driven Multi-tasking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ar-EG" sz="2800" b="1" dirty="0"/>
              <a:t> </a:t>
            </a:r>
            <a:r>
              <a:rPr lang="en-US" sz="2400" dirty="0"/>
              <a:t>Configured Timer0 in CTC mode to generate a 1ms </a:t>
            </a:r>
          </a:p>
          <a:p>
            <a:r>
              <a:rPr lang="en-US" sz="2400" dirty="0"/>
              <a:t>    "Tick," handling 7-segment multiplexing and </a:t>
            </a:r>
          </a:p>
          <a:p>
            <a:r>
              <a:rPr lang="en-US" sz="2400" dirty="0"/>
              <a:t>    countdowns independent of the main CPU loop.</a:t>
            </a:r>
            <a:endParaRPr lang="ar-EG" sz="2000" b="1" dirty="0"/>
          </a:p>
        </p:txBody>
      </p:sp>
      <p:sp>
        <p:nvSpPr>
          <p:cNvPr id="21" name="مربع نص 11">
            <a:extLst>
              <a:ext uri="{FF2B5EF4-FFF2-40B4-BE49-F238E27FC236}">
                <a16:creationId xmlns:a16="http://schemas.microsoft.com/office/drawing/2014/main" id="{2327BBDC-034A-8B3A-4770-07BC39D6005D}"/>
              </a:ext>
            </a:extLst>
          </p:cNvPr>
          <p:cNvSpPr txBox="1"/>
          <p:nvPr/>
        </p:nvSpPr>
        <p:spPr>
          <a:xfrm>
            <a:off x="127179" y="4028913"/>
            <a:ext cx="7275966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Asynchronous Communication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 </a:t>
            </a:r>
            <a:r>
              <a:rPr lang="en-US" sz="2400" dirty="0"/>
              <a:t> Implemented a non-blocking UART receive function to </a:t>
            </a:r>
          </a:p>
          <a:p>
            <a:r>
              <a:rPr lang="en-US" sz="2400" dirty="0"/>
              <a:t>    monitor remote villain commands seamlessly.</a:t>
            </a:r>
            <a:endParaRPr lang="ar-EG" sz="2000" b="1" dirty="0"/>
          </a:p>
        </p:txBody>
      </p:sp>
      <p:grpSp>
        <p:nvGrpSpPr>
          <p:cNvPr id="22" name="مجموعة 33">
            <a:extLst>
              <a:ext uri="{FF2B5EF4-FFF2-40B4-BE49-F238E27FC236}">
                <a16:creationId xmlns:a16="http://schemas.microsoft.com/office/drawing/2014/main" id="{DD14D2E9-FDA3-5C65-4AEB-72097B20BA26}"/>
              </a:ext>
            </a:extLst>
          </p:cNvPr>
          <p:cNvGrpSpPr/>
          <p:nvPr/>
        </p:nvGrpSpPr>
        <p:grpSpPr>
          <a:xfrm rot="9314856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23" name="صورة 69">
              <a:extLst>
                <a:ext uri="{FF2B5EF4-FFF2-40B4-BE49-F238E27FC236}">
                  <a16:creationId xmlns:a16="http://schemas.microsoft.com/office/drawing/2014/main" id="{CB44BB07-A8DE-83DB-47CB-0D1E567E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4" name="صورة 72">
              <a:extLst>
                <a:ext uri="{FF2B5EF4-FFF2-40B4-BE49-F238E27FC236}">
                  <a16:creationId xmlns:a16="http://schemas.microsoft.com/office/drawing/2014/main" id="{E27B963D-BD82-D21E-70AD-288576FDB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5" name="صورة 78">
              <a:extLst>
                <a:ext uri="{FF2B5EF4-FFF2-40B4-BE49-F238E27FC236}">
                  <a16:creationId xmlns:a16="http://schemas.microsoft.com/office/drawing/2014/main" id="{D644CD3F-42D1-5336-3AC7-A3DCC9C0A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6" name="صورة 77">
              <a:extLst>
                <a:ext uri="{FF2B5EF4-FFF2-40B4-BE49-F238E27FC236}">
                  <a16:creationId xmlns:a16="http://schemas.microsoft.com/office/drawing/2014/main" id="{A721A408-0098-70B8-85AC-56F058AC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7" name="صورة 24">
              <a:extLst>
                <a:ext uri="{FF2B5EF4-FFF2-40B4-BE49-F238E27FC236}">
                  <a16:creationId xmlns:a16="http://schemas.microsoft.com/office/drawing/2014/main" id="{75EB9E48-3C09-1B09-1ACF-C45F95018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8" name="صورة 28">
              <a:extLst>
                <a:ext uri="{FF2B5EF4-FFF2-40B4-BE49-F238E27FC236}">
                  <a16:creationId xmlns:a16="http://schemas.microsoft.com/office/drawing/2014/main" id="{1BEC4083-6D06-4603-E93A-846D75B3E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29" name="صورة 32">
              <a:extLst>
                <a:ext uri="{FF2B5EF4-FFF2-40B4-BE49-F238E27FC236}">
                  <a16:creationId xmlns:a16="http://schemas.microsoft.com/office/drawing/2014/main" id="{F93724F6-5374-8DAF-1B0B-9477F9073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101138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1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  <a14:imgEffect>
                      <a14:brightnessContrast bright="-60000" contrast="15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4A5E4-1DFD-406D-ED49-74388341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98ACD2EC-A62E-DA5F-3A66-F2381E1277CA}"/>
              </a:ext>
            </a:extLst>
          </p:cNvPr>
          <p:cNvSpPr/>
          <p:nvPr/>
        </p:nvSpPr>
        <p:spPr>
          <a:xfrm rot="10800000">
            <a:off x="4439103" y="7270432"/>
            <a:ext cx="3313793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System endings</a:t>
            </a:r>
          </a:p>
        </p:txBody>
      </p:sp>
      <p:sp useBgFill="1">
        <p:nvSpPr>
          <p:cNvPr id="17" name="مستطيل: زوايا مستديرة 10">
            <a:extLst>
              <a:ext uri="{FF2B5EF4-FFF2-40B4-BE49-F238E27FC236}">
                <a16:creationId xmlns:a16="http://schemas.microsoft.com/office/drawing/2014/main" id="{FE969E63-C272-A2B8-5E52-87DEDC0BD8C7}"/>
              </a:ext>
            </a:extLst>
          </p:cNvPr>
          <p:cNvSpPr/>
          <p:nvPr/>
        </p:nvSpPr>
        <p:spPr>
          <a:xfrm>
            <a:off x="4079435" y="471210"/>
            <a:ext cx="403313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Hardware integration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A062B8-808E-C883-1C4F-AC2FC9B57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9000"/>
                    </a14:imgEffect>
                    <a14:imgEffect>
                      <a14:brightnessContrast bright="-55000" contrast="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793075">
            <a:off x="-2267573" y="2626812"/>
            <a:ext cx="8159359" cy="5444544"/>
          </a:xfrm>
          <a:prstGeom prst="rect">
            <a:avLst/>
          </a:prstGeom>
        </p:spPr>
      </p:pic>
      <p:sp>
        <p:nvSpPr>
          <p:cNvPr id="20" name="مربع نص 11">
            <a:extLst>
              <a:ext uri="{FF2B5EF4-FFF2-40B4-BE49-F238E27FC236}">
                <a16:creationId xmlns:a16="http://schemas.microsoft.com/office/drawing/2014/main" id="{AFC6F348-A7C9-FAB9-80FE-6C66DC682CA7}"/>
              </a:ext>
            </a:extLst>
          </p:cNvPr>
          <p:cNvSpPr txBox="1"/>
          <p:nvPr/>
        </p:nvSpPr>
        <p:spPr>
          <a:xfrm>
            <a:off x="127179" y="1508187"/>
            <a:ext cx="5165901" cy="1692771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Inputs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ar-EG" sz="2800" dirty="0"/>
              <a:t>● </a:t>
            </a:r>
            <a:r>
              <a:rPr lang="en-US" sz="2400" dirty="0"/>
              <a:t>Potentiometer (ADC)</a:t>
            </a:r>
          </a:p>
          <a:p>
            <a:r>
              <a:rPr lang="en-US" sz="2400" dirty="0"/>
              <a:t>  </a:t>
            </a:r>
            <a:r>
              <a:rPr lang="ar-EG" sz="2400" dirty="0"/>
              <a:t>●</a:t>
            </a:r>
            <a:r>
              <a:rPr lang="en-US" sz="2400" dirty="0"/>
              <a:t> Emergency Wires (Internal Pull-ups)</a:t>
            </a:r>
          </a:p>
          <a:p>
            <a:r>
              <a:rPr lang="en-US" sz="2400" dirty="0"/>
              <a:t>  </a:t>
            </a:r>
            <a:r>
              <a:rPr lang="ar-EG" sz="2400" dirty="0"/>
              <a:t>●</a:t>
            </a:r>
            <a:r>
              <a:rPr lang="en-US" sz="2400" dirty="0"/>
              <a:t> Keypad</a:t>
            </a:r>
            <a:endParaRPr lang="ar-EG" sz="2000" b="1" dirty="0"/>
          </a:p>
        </p:txBody>
      </p:sp>
      <p:sp>
        <p:nvSpPr>
          <p:cNvPr id="22" name="مربع نص 11">
            <a:extLst>
              <a:ext uri="{FF2B5EF4-FFF2-40B4-BE49-F238E27FC236}">
                <a16:creationId xmlns:a16="http://schemas.microsoft.com/office/drawing/2014/main" id="{FAE0582F-34D6-C5B0-511A-AC227C9B3D06}"/>
              </a:ext>
            </a:extLst>
          </p:cNvPr>
          <p:cNvSpPr txBox="1"/>
          <p:nvPr/>
        </p:nvSpPr>
        <p:spPr>
          <a:xfrm>
            <a:off x="127179" y="3358258"/>
            <a:ext cx="7679090" cy="2062103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Outputs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ar-EG" sz="2800" dirty="0"/>
              <a:t>● </a:t>
            </a:r>
            <a:r>
              <a:rPr lang="en-US" sz="2400" dirty="0"/>
              <a:t>Buzzer (Timed pulses)</a:t>
            </a:r>
          </a:p>
          <a:p>
            <a:r>
              <a:rPr lang="en-US" sz="2400" dirty="0"/>
              <a:t>  </a:t>
            </a:r>
            <a:r>
              <a:rPr lang="ar-EG" sz="2400" dirty="0"/>
              <a:t>●</a:t>
            </a:r>
            <a:r>
              <a:rPr lang="en-US" sz="2400" dirty="0"/>
              <a:t> DC Motor (System cooling fan)</a:t>
            </a:r>
          </a:p>
          <a:p>
            <a:r>
              <a:rPr lang="en-US" sz="2400" dirty="0"/>
              <a:t>  </a:t>
            </a:r>
            <a:r>
              <a:rPr lang="ar-EG" sz="2400" dirty="0"/>
              <a:t>●</a:t>
            </a:r>
            <a:r>
              <a:rPr lang="en-US" sz="2400" dirty="0"/>
              <a:t> Servo Motor (Mechanical vault lock)</a:t>
            </a:r>
          </a:p>
          <a:p>
            <a:r>
              <a:rPr lang="en-US" sz="2000" b="1" dirty="0"/>
              <a:t>  </a:t>
            </a:r>
            <a:r>
              <a:rPr lang="en-US" sz="2400" dirty="0"/>
              <a:t>● 74HC595 Shift Register (Optimized pin usage for displays)</a:t>
            </a:r>
            <a:endParaRPr lang="ar-EG" sz="2400" dirty="0"/>
          </a:p>
        </p:txBody>
      </p:sp>
      <p:grpSp>
        <p:nvGrpSpPr>
          <p:cNvPr id="23" name="مجموعة 33">
            <a:extLst>
              <a:ext uri="{FF2B5EF4-FFF2-40B4-BE49-F238E27FC236}">
                <a16:creationId xmlns:a16="http://schemas.microsoft.com/office/drawing/2014/main" id="{1B80E074-7C98-B88A-28A4-ED48AA10644A}"/>
              </a:ext>
            </a:extLst>
          </p:cNvPr>
          <p:cNvGrpSpPr/>
          <p:nvPr/>
        </p:nvGrpSpPr>
        <p:grpSpPr>
          <a:xfrm rot="12267049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24" name="صورة 69">
              <a:extLst>
                <a:ext uri="{FF2B5EF4-FFF2-40B4-BE49-F238E27FC236}">
                  <a16:creationId xmlns:a16="http://schemas.microsoft.com/office/drawing/2014/main" id="{FA3E828B-8DA7-EE4E-0F76-C74D68DDD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5" name="صورة 72">
              <a:extLst>
                <a:ext uri="{FF2B5EF4-FFF2-40B4-BE49-F238E27FC236}">
                  <a16:creationId xmlns:a16="http://schemas.microsoft.com/office/drawing/2014/main" id="{F98D7F1C-31D5-658A-5576-A5A37BED6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6" name="صورة 78">
              <a:extLst>
                <a:ext uri="{FF2B5EF4-FFF2-40B4-BE49-F238E27FC236}">
                  <a16:creationId xmlns:a16="http://schemas.microsoft.com/office/drawing/2014/main" id="{E420CB7D-8D11-E75F-C5F7-9DB815BFB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7" name="صورة 77">
              <a:extLst>
                <a:ext uri="{FF2B5EF4-FFF2-40B4-BE49-F238E27FC236}">
                  <a16:creationId xmlns:a16="http://schemas.microsoft.com/office/drawing/2014/main" id="{06929619-50FE-0E2C-FF04-D83B1DE2B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8" name="صورة 24">
              <a:extLst>
                <a:ext uri="{FF2B5EF4-FFF2-40B4-BE49-F238E27FC236}">
                  <a16:creationId xmlns:a16="http://schemas.microsoft.com/office/drawing/2014/main" id="{44A2E36C-E500-7E54-1830-14BAC200E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9" name="صورة 28">
              <a:extLst>
                <a:ext uri="{FF2B5EF4-FFF2-40B4-BE49-F238E27FC236}">
                  <a16:creationId xmlns:a16="http://schemas.microsoft.com/office/drawing/2014/main" id="{3F2A8A81-0650-EDD5-B42A-A2BF9D981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30" name="صورة 32">
              <a:extLst>
                <a:ext uri="{FF2B5EF4-FFF2-40B4-BE49-F238E27FC236}">
                  <a16:creationId xmlns:a16="http://schemas.microsoft.com/office/drawing/2014/main" id="{C5C78939-7E80-F48B-6592-90074E30E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40179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  <a14:imgEffect>
                      <a14:brightnessContrast bright="-65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7FD76-7F46-971F-F067-2861CDC9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C434A0FD-AD4C-E574-659E-528391A0D7B4}"/>
              </a:ext>
            </a:extLst>
          </p:cNvPr>
          <p:cNvSpPr/>
          <p:nvPr/>
        </p:nvSpPr>
        <p:spPr>
          <a:xfrm rot="10800000">
            <a:off x="3477877" y="7632800"/>
            <a:ext cx="5236248" cy="686521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dirty="0"/>
              <a:t>Future Enhancements</a:t>
            </a:r>
          </a:p>
        </p:txBody>
      </p:sp>
      <p:sp useBgFill="1">
        <p:nvSpPr>
          <p:cNvPr id="19" name="مستطيل: زوايا مستديرة 10">
            <a:extLst>
              <a:ext uri="{FF2B5EF4-FFF2-40B4-BE49-F238E27FC236}">
                <a16:creationId xmlns:a16="http://schemas.microsoft.com/office/drawing/2014/main" id="{A9C715BA-BA01-4A82-97C0-7DABC5F61924}"/>
              </a:ext>
            </a:extLst>
          </p:cNvPr>
          <p:cNvSpPr/>
          <p:nvPr/>
        </p:nvSpPr>
        <p:spPr>
          <a:xfrm>
            <a:off x="4439101" y="636319"/>
            <a:ext cx="3313793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System endings</a:t>
            </a:r>
          </a:p>
        </p:txBody>
      </p:sp>
      <p:sp>
        <p:nvSpPr>
          <p:cNvPr id="20" name="مربع نص 11">
            <a:extLst>
              <a:ext uri="{FF2B5EF4-FFF2-40B4-BE49-F238E27FC236}">
                <a16:creationId xmlns:a16="http://schemas.microsoft.com/office/drawing/2014/main" id="{C880A1B4-057E-EA3F-DC14-AF6E4560433A}"/>
              </a:ext>
            </a:extLst>
          </p:cNvPr>
          <p:cNvSpPr txBox="1"/>
          <p:nvPr/>
        </p:nvSpPr>
        <p:spPr>
          <a:xfrm>
            <a:off x="160143" y="1890117"/>
            <a:ext cx="8448467" cy="1538883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Defused (Success)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ar-EG" sz="2400" dirty="0"/>
              <a:t>●</a:t>
            </a:r>
            <a:r>
              <a:rPr lang="ar-EG" sz="2800" dirty="0"/>
              <a:t> </a:t>
            </a:r>
            <a:r>
              <a:rPr lang="en-US" sz="2400" b="1" dirty="0"/>
              <a:t>Triggers: </a:t>
            </a:r>
            <a:r>
              <a:rPr lang="en-US" sz="2400" dirty="0"/>
              <a:t>Correct password entered OR correct wire cut.</a:t>
            </a:r>
          </a:p>
          <a:p>
            <a:endParaRPr lang="en-US" sz="1200" dirty="0"/>
          </a:p>
          <a:p>
            <a:r>
              <a:rPr lang="en-US" sz="2400" dirty="0"/>
              <a:t>    </a:t>
            </a:r>
            <a:r>
              <a:rPr lang="ar-EG" sz="2400" dirty="0"/>
              <a:t>●</a:t>
            </a:r>
            <a:r>
              <a:rPr lang="en-US" sz="2400" b="1" dirty="0"/>
              <a:t>Actions: </a:t>
            </a:r>
            <a:r>
              <a:rPr lang="en-US" sz="2400" dirty="0"/>
              <a:t>Timer stops, displays turn off, vault opens (Servo 90°).</a:t>
            </a:r>
            <a:endParaRPr lang="ar-EG" sz="2000" b="1" dirty="0"/>
          </a:p>
        </p:txBody>
      </p:sp>
      <p:sp>
        <p:nvSpPr>
          <p:cNvPr id="21" name="مربع نص 11">
            <a:extLst>
              <a:ext uri="{FF2B5EF4-FFF2-40B4-BE49-F238E27FC236}">
                <a16:creationId xmlns:a16="http://schemas.microsoft.com/office/drawing/2014/main" id="{654703C4-6A79-DEC2-AF51-F5EF4B25461D}"/>
              </a:ext>
            </a:extLst>
          </p:cNvPr>
          <p:cNvSpPr txBox="1"/>
          <p:nvPr/>
        </p:nvSpPr>
        <p:spPr>
          <a:xfrm>
            <a:off x="160143" y="3970453"/>
            <a:ext cx="6641049" cy="2400657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Detonated (Failure)</a:t>
            </a:r>
            <a:r>
              <a:rPr lang="ar-EG" sz="2800" b="1" dirty="0"/>
              <a:t>:</a:t>
            </a:r>
            <a:endParaRPr lang="en-US" sz="2800" b="1" dirty="0"/>
          </a:p>
          <a:p>
            <a:endParaRPr lang="ar-EG" sz="1000" b="1" dirty="0"/>
          </a:p>
          <a:p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ar-EG" sz="2400" dirty="0"/>
              <a:t>●</a:t>
            </a:r>
            <a:r>
              <a:rPr lang="ar-EG" sz="2800" dirty="0"/>
              <a:t> </a:t>
            </a:r>
            <a:r>
              <a:rPr lang="en-US" sz="2400" b="1" dirty="0"/>
              <a:t>Triggers: </a:t>
            </a:r>
            <a:r>
              <a:rPr lang="en-US" sz="2400" dirty="0"/>
              <a:t>Time out, wrong wire cut, </a:t>
            </a:r>
          </a:p>
          <a:p>
            <a:r>
              <a:rPr lang="en-US" sz="2400" dirty="0"/>
              <a:t>                       OR remote kill command ('K') via UART.</a:t>
            </a:r>
          </a:p>
          <a:p>
            <a:endParaRPr lang="en-US" sz="1200" dirty="0"/>
          </a:p>
          <a:p>
            <a:r>
              <a:rPr lang="en-US" sz="2400" dirty="0"/>
              <a:t>    </a:t>
            </a:r>
            <a:r>
              <a:rPr lang="ar-EG" sz="2400" dirty="0"/>
              <a:t>●</a:t>
            </a:r>
            <a:r>
              <a:rPr lang="en-US" sz="2400" b="1" dirty="0"/>
              <a:t>Actions: </a:t>
            </a:r>
            <a:r>
              <a:rPr lang="en-US" sz="2400" dirty="0"/>
              <a:t>Continuous buzzer, system freezes,</a:t>
            </a:r>
          </a:p>
          <a:p>
            <a:r>
              <a:rPr lang="en-US" sz="2400" dirty="0"/>
              <a:t>                       "BOOM" message displayed.</a:t>
            </a:r>
            <a:endParaRPr lang="ar-EG" sz="2000" dirty="0"/>
          </a:p>
        </p:txBody>
      </p:sp>
      <p:grpSp>
        <p:nvGrpSpPr>
          <p:cNvPr id="22" name="مجموعة 33">
            <a:extLst>
              <a:ext uri="{FF2B5EF4-FFF2-40B4-BE49-F238E27FC236}">
                <a16:creationId xmlns:a16="http://schemas.microsoft.com/office/drawing/2014/main" id="{9BE9C486-DA72-A3CF-3D2A-12AAC679CA8F}"/>
              </a:ext>
            </a:extLst>
          </p:cNvPr>
          <p:cNvGrpSpPr/>
          <p:nvPr/>
        </p:nvGrpSpPr>
        <p:grpSpPr>
          <a:xfrm rot="15410510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23" name="صورة 69">
              <a:extLst>
                <a:ext uri="{FF2B5EF4-FFF2-40B4-BE49-F238E27FC236}">
                  <a16:creationId xmlns:a16="http://schemas.microsoft.com/office/drawing/2014/main" id="{420EB155-6EBD-3DD5-E6BB-0EAAB080F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24" name="صورة 72">
              <a:extLst>
                <a:ext uri="{FF2B5EF4-FFF2-40B4-BE49-F238E27FC236}">
                  <a16:creationId xmlns:a16="http://schemas.microsoft.com/office/drawing/2014/main" id="{CDC974A1-2503-FC7E-AEC3-A3FD26971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5" name="صورة 78">
              <a:extLst>
                <a:ext uri="{FF2B5EF4-FFF2-40B4-BE49-F238E27FC236}">
                  <a16:creationId xmlns:a16="http://schemas.microsoft.com/office/drawing/2014/main" id="{BF1AAE41-E335-66BE-8415-0EE758CE8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6" name="صورة 77">
              <a:extLst>
                <a:ext uri="{FF2B5EF4-FFF2-40B4-BE49-F238E27FC236}">
                  <a16:creationId xmlns:a16="http://schemas.microsoft.com/office/drawing/2014/main" id="{05F486F2-CE78-4C09-3C64-DEBE4176C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7" name="صورة 24">
              <a:extLst>
                <a:ext uri="{FF2B5EF4-FFF2-40B4-BE49-F238E27FC236}">
                  <a16:creationId xmlns:a16="http://schemas.microsoft.com/office/drawing/2014/main" id="{25072539-7C38-8D76-B398-65E7F25BF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8" name="صورة 28">
              <a:extLst>
                <a:ext uri="{FF2B5EF4-FFF2-40B4-BE49-F238E27FC236}">
                  <a16:creationId xmlns:a16="http://schemas.microsoft.com/office/drawing/2014/main" id="{96C1F70B-5A85-8595-1F74-D6F26520A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29" name="صورة 32">
              <a:extLst>
                <a:ext uri="{FF2B5EF4-FFF2-40B4-BE49-F238E27FC236}">
                  <a16:creationId xmlns:a16="http://schemas.microsoft.com/office/drawing/2014/main" id="{FC0B0EEB-791B-5747-D7C3-C1EEDD898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793266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4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  <a14:imgEffect>
                      <a14:brightnessContrast bright="-65000" contrast="1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0F3D2-1791-4611-EDFC-11AC2942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مستطيل: زوايا مستديرة 10">
            <a:extLst>
              <a:ext uri="{FF2B5EF4-FFF2-40B4-BE49-F238E27FC236}">
                <a16:creationId xmlns:a16="http://schemas.microsoft.com/office/drawing/2014/main" id="{E05EB9A6-42A3-8C84-D173-CF6B93E99EFE}"/>
              </a:ext>
            </a:extLst>
          </p:cNvPr>
          <p:cNvSpPr/>
          <p:nvPr/>
        </p:nvSpPr>
        <p:spPr>
          <a:xfrm>
            <a:off x="3477876" y="552285"/>
            <a:ext cx="5236248" cy="686521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dirty="0"/>
              <a:t>Future Enhancements</a:t>
            </a:r>
          </a:p>
        </p:txBody>
      </p:sp>
      <p:sp>
        <p:nvSpPr>
          <p:cNvPr id="16" name="مربع نص 11">
            <a:extLst>
              <a:ext uri="{FF2B5EF4-FFF2-40B4-BE49-F238E27FC236}">
                <a16:creationId xmlns:a16="http://schemas.microsoft.com/office/drawing/2014/main" id="{FFFACEC2-3BF8-1397-1ABE-D40AEB935135}"/>
              </a:ext>
            </a:extLst>
          </p:cNvPr>
          <p:cNvSpPr txBox="1"/>
          <p:nvPr/>
        </p:nvSpPr>
        <p:spPr>
          <a:xfrm>
            <a:off x="221728" y="2156951"/>
            <a:ext cx="6512296" cy="1323439"/>
          </a:xfrm>
          <a:prstGeom prst="rect">
            <a:avLst/>
          </a:prstGeom>
          <a:noFill/>
        </p:spPr>
        <p:txBody>
          <a:bodyPr wrap="none" rtlCol="1" anchor="ctr">
            <a:spAutoFit/>
          </a:bodyPr>
          <a:lstStyle/>
          <a:p>
            <a:r>
              <a:rPr lang="en-US" sz="2800" b="1" dirty="0"/>
              <a:t>IoT Connectivity</a:t>
            </a:r>
            <a:r>
              <a:rPr lang="ar-EG" sz="2800" b="1" dirty="0"/>
              <a:t>:</a:t>
            </a:r>
          </a:p>
          <a:p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en-US" sz="2400" dirty="0"/>
              <a:t>Connect the system to an ESP32 via UART</a:t>
            </a:r>
          </a:p>
          <a:p>
            <a:r>
              <a:rPr lang="en-US" sz="2400" dirty="0"/>
              <a:t>   to send live telemetry data to a cloud dashboard.</a:t>
            </a:r>
            <a:endParaRPr lang="ar-EG" sz="2000" b="1" dirty="0"/>
          </a:p>
        </p:txBody>
      </p:sp>
      <p:grpSp>
        <p:nvGrpSpPr>
          <p:cNvPr id="17" name="مجموعة 33">
            <a:extLst>
              <a:ext uri="{FF2B5EF4-FFF2-40B4-BE49-F238E27FC236}">
                <a16:creationId xmlns:a16="http://schemas.microsoft.com/office/drawing/2014/main" id="{815EDA25-4B27-2496-AE79-B84DBFFD7AD3}"/>
              </a:ext>
            </a:extLst>
          </p:cNvPr>
          <p:cNvGrpSpPr/>
          <p:nvPr/>
        </p:nvGrpSpPr>
        <p:grpSpPr>
          <a:xfrm rot="18692615">
            <a:off x="8450695" y="-2857877"/>
            <a:ext cx="12119851" cy="12480734"/>
            <a:chOff x="9195039" y="-634806"/>
            <a:chExt cx="8216236" cy="8460884"/>
          </a:xfrm>
        </p:grpSpPr>
        <p:pic>
          <p:nvPicPr>
            <p:cNvPr id="18" name="صورة 69">
              <a:extLst>
                <a:ext uri="{FF2B5EF4-FFF2-40B4-BE49-F238E27FC236}">
                  <a16:creationId xmlns:a16="http://schemas.microsoft.com/office/drawing/2014/main" id="{A144CA79-2296-2DB7-64CD-D7BADB559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206" r="15206"/>
            <a:stretch/>
          </p:blipFill>
          <p:spPr>
            <a:xfrm>
              <a:off x="9195039" y="1980999"/>
              <a:ext cx="2002732" cy="3403129"/>
            </a:xfrm>
            <a:custGeom>
              <a:avLst/>
              <a:gdLst>
                <a:gd name="connsiteX0" fmla="*/ 347487 w 2002732"/>
                <a:gd name="connsiteY0" fmla="*/ 0 h 3403129"/>
                <a:gd name="connsiteX1" fmla="*/ 1956433 w 2002732"/>
                <a:gd name="connsiteY1" fmla="*/ 726354 h 3403129"/>
                <a:gd name="connsiteX2" fmla="*/ 2002732 w 2002732"/>
                <a:gd name="connsiteY2" fmla="*/ 2598085 h 3403129"/>
                <a:gd name="connsiteX3" fmla="*/ 431658 w 2002732"/>
                <a:gd name="connsiteY3" fmla="*/ 3403129 h 3403129"/>
                <a:gd name="connsiteX4" fmla="*/ 347487 w 2002732"/>
                <a:gd name="connsiteY4" fmla="*/ 0 h 340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2732" h="3403129">
                  <a:moveTo>
                    <a:pt x="347487" y="0"/>
                  </a:moveTo>
                  <a:lnTo>
                    <a:pt x="1956433" y="726354"/>
                  </a:lnTo>
                  <a:cubicBezTo>
                    <a:pt x="1686243" y="1324816"/>
                    <a:pt x="1703291" y="2013735"/>
                    <a:pt x="2002732" y="2598085"/>
                  </a:cubicBezTo>
                  <a:lnTo>
                    <a:pt x="431658" y="3403129"/>
                  </a:lnTo>
                  <a:cubicBezTo>
                    <a:pt x="-112768" y="2340658"/>
                    <a:pt x="-143746" y="1088081"/>
                    <a:pt x="347487" y="0"/>
                  </a:cubicBezTo>
                  <a:close/>
                </a:path>
              </a:pathLst>
            </a:custGeom>
          </p:spPr>
        </p:pic>
        <p:pic>
          <p:nvPicPr>
            <p:cNvPr id="19" name="صورة 72">
              <a:extLst>
                <a:ext uri="{FF2B5EF4-FFF2-40B4-BE49-F238E27FC236}">
                  <a16:creationId xmlns:a16="http://schemas.microsoft.com/office/drawing/2014/main" id="{5582B909-4122-2992-F3D2-DD8E20026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812" r="32812"/>
            <a:stretch/>
          </p:blipFill>
          <p:spPr>
            <a:xfrm rot="19263862">
              <a:off x="10430976" y="4521736"/>
              <a:ext cx="2224536" cy="3304342"/>
            </a:xfrm>
            <a:custGeom>
              <a:avLst/>
              <a:gdLst>
                <a:gd name="connsiteX0" fmla="*/ 1810977 w 2224536"/>
                <a:gd name="connsiteY0" fmla="*/ 361124 h 3304342"/>
                <a:gd name="connsiteX1" fmla="*/ 2115989 w 2224536"/>
                <a:gd name="connsiteY1" fmla="*/ 1981581 h 3304342"/>
                <a:gd name="connsiteX2" fmla="*/ 2224536 w 2224536"/>
                <a:gd name="connsiteY2" fmla="*/ 2128926 h 3304342"/>
                <a:gd name="connsiteX3" fmla="*/ 2224536 w 2224536"/>
                <a:gd name="connsiteY3" fmla="*/ 2208763 h 3304342"/>
                <a:gd name="connsiteX4" fmla="*/ 901353 w 2224536"/>
                <a:gd name="connsiteY4" fmla="*/ 3304342 h 3304342"/>
                <a:gd name="connsiteX5" fmla="*/ 83000 w 2224536"/>
                <a:gd name="connsiteY5" fmla="*/ 0 h 330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4536" h="3304342">
                  <a:moveTo>
                    <a:pt x="1810977" y="361124"/>
                  </a:moveTo>
                  <a:cubicBezTo>
                    <a:pt x="1693447" y="923518"/>
                    <a:pt x="1805585" y="1505948"/>
                    <a:pt x="2115989" y="1981581"/>
                  </a:cubicBezTo>
                  <a:lnTo>
                    <a:pt x="2224536" y="2128926"/>
                  </a:lnTo>
                  <a:lnTo>
                    <a:pt x="2224536" y="2208763"/>
                  </a:lnTo>
                  <a:lnTo>
                    <a:pt x="901353" y="3304342"/>
                  </a:lnTo>
                  <a:cubicBezTo>
                    <a:pt x="139981" y="2384804"/>
                    <a:pt x="-161225" y="1168591"/>
                    <a:pt x="83000" y="0"/>
                  </a:cubicBezTo>
                  <a:close/>
                </a:path>
              </a:pathLst>
            </a:custGeom>
          </p:spPr>
        </p:pic>
        <p:pic>
          <p:nvPicPr>
            <p:cNvPr id="20" name="صورة 78">
              <a:extLst>
                <a:ext uri="{FF2B5EF4-FFF2-40B4-BE49-F238E27FC236}">
                  <a16:creationId xmlns:a16="http://schemas.microsoft.com/office/drawing/2014/main" id="{1011ED19-3D15-A1A9-DA96-335550EE5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237" r="26237"/>
            <a:stretch/>
          </p:blipFill>
          <p:spPr>
            <a:xfrm rot="13279716">
              <a:off x="15090881" y="3090648"/>
              <a:ext cx="2320394" cy="3254881"/>
            </a:xfrm>
            <a:custGeom>
              <a:avLst/>
              <a:gdLst>
                <a:gd name="connsiteX0" fmla="*/ 1042056 w 2320394"/>
                <a:gd name="connsiteY0" fmla="*/ 3254881 h 3254881"/>
                <a:gd name="connsiteX1" fmla="*/ 44999 w 2320394"/>
                <a:gd name="connsiteY1" fmla="*/ 0 h 3254881"/>
                <a:gd name="connsiteX2" fmla="*/ 1790059 w 2320394"/>
                <a:gd name="connsiteY2" fmla="*/ 266497 h 3254881"/>
                <a:gd name="connsiteX3" fmla="*/ 2182865 w 2320394"/>
                <a:gd name="connsiteY3" fmla="*/ 1867939 h 3254881"/>
                <a:gd name="connsiteX4" fmla="*/ 2320394 w 2320394"/>
                <a:gd name="connsiteY4" fmla="*/ 2034782 h 3254881"/>
                <a:gd name="connsiteX5" fmla="*/ 2320394 w 2320394"/>
                <a:gd name="connsiteY5" fmla="*/ 2073368 h 325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0394" h="3254881">
                  <a:moveTo>
                    <a:pt x="1042056" y="3254881"/>
                  </a:moveTo>
                  <a:cubicBezTo>
                    <a:pt x="231748" y="2378157"/>
                    <a:pt x="-135238" y="1180149"/>
                    <a:pt x="44999" y="0"/>
                  </a:cubicBezTo>
                  <a:lnTo>
                    <a:pt x="1790059" y="266497"/>
                  </a:lnTo>
                  <a:cubicBezTo>
                    <a:pt x="1703333" y="834455"/>
                    <a:pt x="1847028" y="1409913"/>
                    <a:pt x="2182865" y="1867939"/>
                  </a:cubicBezTo>
                  <a:lnTo>
                    <a:pt x="2320394" y="2034782"/>
                  </a:lnTo>
                  <a:lnTo>
                    <a:pt x="2320394" y="2073368"/>
                  </a:lnTo>
                  <a:close/>
                </a:path>
              </a:pathLst>
            </a:custGeom>
          </p:spPr>
        </p:pic>
        <p:pic>
          <p:nvPicPr>
            <p:cNvPr id="21" name="صورة 77">
              <a:extLst>
                <a:ext uri="{FF2B5EF4-FFF2-40B4-BE49-F238E27FC236}">
                  <a16:creationId xmlns:a16="http://schemas.microsoft.com/office/drawing/2014/main" id="{BB236140-CB4C-8A3A-69A3-B92281073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475" r="30475"/>
            <a:stretch/>
          </p:blipFill>
          <p:spPr>
            <a:xfrm rot="15290166">
              <a:off x="13077941" y="4917027"/>
              <a:ext cx="1993756" cy="3403759"/>
            </a:xfrm>
            <a:custGeom>
              <a:avLst/>
              <a:gdLst>
                <a:gd name="connsiteX0" fmla="*/ 1964682 w 1993756"/>
                <a:gd name="connsiteY0" fmla="*/ 2662611 h 3403759"/>
                <a:gd name="connsiteX1" fmla="*/ 362491 w 1993756"/>
                <a:gd name="connsiteY1" fmla="*/ 3403759 h 3403759"/>
                <a:gd name="connsiteX2" fmla="*/ 415354 w 1993756"/>
                <a:gd name="connsiteY2" fmla="*/ 0 h 3403759"/>
                <a:gd name="connsiteX3" fmla="*/ 1993756 w 1993756"/>
                <a:gd name="connsiteY3" fmla="*/ 790542 h 3403759"/>
                <a:gd name="connsiteX4" fmla="*/ 1964682 w 1993756"/>
                <a:gd name="connsiteY4" fmla="*/ 2662611 h 340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756" h="3403759">
                  <a:moveTo>
                    <a:pt x="1964682" y="2662611"/>
                  </a:moveTo>
                  <a:lnTo>
                    <a:pt x="362491" y="3403759"/>
                  </a:lnTo>
                  <a:cubicBezTo>
                    <a:pt x="-138737" y="2320235"/>
                    <a:pt x="-119280" y="1067435"/>
                    <a:pt x="415354" y="0"/>
                  </a:cubicBezTo>
                  <a:lnTo>
                    <a:pt x="1993756" y="790542"/>
                  </a:lnTo>
                  <a:cubicBezTo>
                    <a:pt x="1699712" y="1377633"/>
                    <a:pt x="1689010" y="2066673"/>
                    <a:pt x="1964682" y="2662611"/>
                  </a:cubicBezTo>
                  <a:close/>
                </a:path>
              </a:pathLst>
            </a:custGeom>
          </p:spPr>
        </p:pic>
        <p:pic>
          <p:nvPicPr>
            <p:cNvPr id="22" name="صورة 24">
              <a:extLst>
                <a:ext uri="{FF2B5EF4-FFF2-40B4-BE49-F238E27FC236}">
                  <a16:creationId xmlns:a16="http://schemas.microsoft.com/office/drawing/2014/main" id="{E198C3E4-836B-818F-3C02-E36A38E9C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848" r="20848"/>
            <a:stretch/>
          </p:blipFill>
          <p:spPr>
            <a:xfrm rot="9151169">
              <a:off x="15106061" y="465617"/>
              <a:ext cx="1984726" cy="3404122"/>
            </a:xfrm>
            <a:custGeom>
              <a:avLst/>
              <a:gdLst>
                <a:gd name="connsiteX0" fmla="*/ 378180 w 1984726"/>
                <a:gd name="connsiteY0" fmla="*/ 3404122 h 3404122"/>
                <a:gd name="connsiteX1" fmla="*/ 398925 w 1984726"/>
                <a:gd name="connsiteY1" fmla="*/ 0 h 3404122"/>
                <a:gd name="connsiteX2" fmla="*/ 1984726 w 1984726"/>
                <a:gd name="connsiteY2" fmla="*/ 775629 h 3404122"/>
                <a:gd name="connsiteX3" fmla="*/ 1973319 w 1984726"/>
                <a:gd name="connsiteY3" fmla="*/ 2647882 h 340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726" h="3404122">
                  <a:moveTo>
                    <a:pt x="378180" y="3404122"/>
                  </a:moveTo>
                  <a:cubicBezTo>
                    <a:pt x="-133242" y="2325369"/>
                    <a:pt x="-125597" y="1072453"/>
                    <a:pt x="398925" y="0"/>
                  </a:cubicBezTo>
                  <a:lnTo>
                    <a:pt x="1984726" y="775629"/>
                  </a:lnTo>
                  <a:cubicBezTo>
                    <a:pt x="1696227" y="1365458"/>
                    <a:pt x="1692035" y="2054577"/>
                    <a:pt x="1973319" y="2647882"/>
                  </a:cubicBezTo>
                  <a:close/>
                </a:path>
              </a:pathLst>
            </a:custGeom>
          </p:spPr>
        </p:pic>
        <p:pic>
          <p:nvPicPr>
            <p:cNvPr id="23" name="صورة 28">
              <a:extLst>
                <a:ext uri="{FF2B5EF4-FFF2-40B4-BE49-F238E27FC236}">
                  <a16:creationId xmlns:a16="http://schemas.microsoft.com/office/drawing/2014/main" id="{9A6E98E2-114C-9CDD-24F9-A3CFC946E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0633" r="30633"/>
            <a:stretch/>
          </p:blipFill>
          <p:spPr>
            <a:xfrm rot="6967676">
              <a:off x="12642926" y="-1147244"/>
              <a:ext cx="2266519" cy="3291396"/>
            </a:xfrm>
            <a:custGeom>
              <a:avLst/>
              <a:gdLst>
                <a:gd name="connsiteX0" fmla="*/ 442180 w 2266519"/>
                <a:gd name="connsiteY0" fmla="*/ 2558124 h 3291396"/>
                <a:gd name="connsiteX1" fmla="*/ 36023 w 2266519"/>
                <a:gd name="connsiteY1" fmla="*/ 218557 h 3291396"/>
                <a:gd name="connsiteX2" fmla="*/ 72204 w 2266519"/>
                <a:gd name="connsiteY2" fmla="*/ 0 h 3291396"/>
                <a:gd name="connsiteX3" fmla="*/ 80381 w 2266519"/>
                <a:gd name="connsiteY3" fmla="*/ 0 h 3291396"/>
                <a:gd name="connsiteX4" fmla="*/ 1805181 w 2266519"/>
                <a:gd name="connsiteY4" fmla="*/ 336104 h 3291396"/>
                <a:gd name="connsiteX5" fmla="*/ 2132161 w 2266519"/>
                <a:gd name="connsiteY5" fmla="*/ 1952276 h 3291396"/>
                <a:gd name="connsiteX6" fmla="*/ 2266519 w 2266519"/>
                <a:gd name="connsiteY6" fmla="*/ 2129568 h 3291396"/>
                <a:gd name="connsiteX7" fmla="*/ 2266519 w 2266519"/>
                <a:gd name="connsiteY7" fmla="*/ 2158606 h 3291396"/>
                <a:gd name="connsiteX8" fmla="*/ 935593 w 2266519"/>
                <a:gd name="connsiteY8" fmla="*/ 3291396 h 3291396"/>
                <a:gd name="connsiteX9" fmla="*/ 442180 w 2266519"/>
                <a:gd name="connsiteY9" fmla="*/ 2558124 h 329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66519" h="3291396">
                  <a:moveTo>
                    <a:pt x="442180" y="2558124"/>
                  </a:moveTo>
                  <a:cubicBezTo>
                    <a:pt x="70851" y="1843725"/>
                    <a:pt x="-74278" y="1026706"/>
                    <a:pt x="36023" y="218557"/>
                  </a:cubicBezTo>
                  <a:lnTo>
                    <a:pt x="72204" y="0"/>
                  </a:lnTo>
                  <a:lnTo>
                    <a:pt x="80381" y="0"/>
                  </a:lnTo>
                  <a:lnTo>
                    <a:pt x="1805181" y="336104"/>
                  </a:lnTo>
                  <a:cubicBezTo>
                    <a:pt x="1695289" y="900038"/>
                    <a:pt x="1815333" y="1480903"/>
                    <a:pt x="2132161" y="1952276"/>
                  </a:cubicBezTo>
                  <a:lnTo>
                    <a:pt x="2266519" y="2129568"/>
                  </a:lnTo>
                  <a:lnTo>
                    <a:pt x="2266519" y="2158606"/>
                  </a:lnTo>
                  <a:lnTo>
                    <a:pt x="935593" y="3291396"/>
                  </a:lnTo>
                  <a:cubicBezTo>
                    <a:pt x="742148" y="3064115"/>
                    <a:pt x="577208" y="2817904"/>
                    <a:pt x="442180" y="2558124"/>
                  </a:cubicBezTo>
                  <a:close/>
                </a:path>
              </a:pathLst>
            </a:custGeom>
          </p:spPr>
        </p:pic>
        <p:pic>
          <p:nvPicPr>
            <p:cNvPr id="24" name="صورة 32">
              <a:extLst>
                <a:ext uri="{FF2B5EF4-FFF2-40B4-BE49-F238E27FC236}">
                  <a16:creationId xmlns:a16="http://schemas.microsoft.com/office/drawing/2014/main" id="{12BEFF00-AB08-6F86-343A-B6877B801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3207" r="33207"/>
            <a:stretch/>
          </p:blipFill>
          <p:spPr>
            <a:xfrm rot="2781049">
              <a:off x="10337829" y="-509288"/>
              <a:ext cx="2030071" cy="3397232"/>
            </a:xfrm>
            <a:custGeom>
              <a:avLst/>
              <a:gdLst>
                <a:gd name="connsiteX0" fmla="*/ 491741 w 2030071"/>
                <a:gd name="connsiteY0" fmla="*/ 0 h 3397232"/>
                <a:gd name="connsiteX1" fmla="*/ 2030071 w 2030071"/>
                <a:gd name="connsiteY1" fmla="*/ 865922 h 3397232"/>
                <a:gd name="connsiteX2" fmla="*/ 1910534 w 2030071"/>
                <a:gd name="connsiteY2" fmla="*/ 2734400 h 3397232"/>
                <a:gd name="connsiteX3" fmla="*/ 274386 w 2030071"/>
                <a:gd name="connsiteY3" fmla="*/ 3397232 h 3397232"/>
                <a:gd name="connsiteX4" fmla="*/ 8219 w 2030071"/>
                <a:gd name="connsiteY4" fmla="*/ 2328538 h 3397232"/>
                <a:gd name="connsiteX5" fmla="*/ 0 w 2030071"/>
                <a:gd name="connsiteY5" fmla="*/ 2219573 h 3397232"/>
                <a:gd name="connsiteX6" fmla="*/ 0 w 2030071"/>
                <a:gd name="connsiteY6" fmla="*/ 1623421 h 3397232"/>
                <a:gd name="connsiteX7" fmla="*/ 15357 w 2030071"/>
                <a:gd name="connsiteY7" fmla="*/ 1456425 h 3397232"/>
                <a:gd name="connsiteX8" fmla="*/ 491741 w 2030071"/>
                <a:gd name="connsiteY8" fmla="*/ 0 h 339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0071" h="3397232">
                  <a:moveTo>
                    <a:pt x="491741" y="0"/>
                  </a:moveTo>
                  <a:lnTo>
                    <a:pt x="2030071" y="865922"/>
                  </a:lnTo>
                  <a:cubicBezTo>
                    <a:pt x="1707984" y="1438115"/>
                    <a:pt x="1663988" y="2125827"/>
                    <a:pt x="1910534" y="2734400"/>
                  </a:cubicBezTo>
                  <a:lnTo>
                    <a:pt x="274386" y="3397232"/>
                  </a:lnTo>
                  <a:cubicBezTo>
                    <a:pt x="134306" y="3051454"/>
                    <a:pt x="45814" y="2691621"/>
                    <a:pt x="8219" y="2328538"/>
                  </a:cubicBezTo>
                  <a:lnTo>
                    <a:pt x="0" y="2219573"/>
                  </a:lnTo>
                  <a:lnTo>
                    <a:pt x="0" y="1623421"/>
                  </a:lnTo>
                  <a:lnTo>
                    <a:pt x="15357" y="1456425"/>
                  </a:lnTo>
                  <a:cubicBezTo>
                    <a:pt x="76112" y="950503"/>
                    <a:pt x="235539" y="455148"/>
                    <a:pt x="491741" y="0"/>
                  </a:cubicBezTo>
                  <a:close/>
                </a:path>
              </a:pathLst>
            </a:custGeom>
          </p:spPr>
        </p:pic>
      </p:grpSp>
      <p:sp useBgFill="1">
        <p:nvSpPr>
          <p:cNvPr id="26" name="مستطيل: زوايا مستديرة 34">
            <a:extLst>
              <a:ext uri="{FF2B5EF4-FFF2-40B4-BE49-F238E27FC236}">
                <a16:creationId xmlns:a16="http://schemas.microsoft.com/office/drawing/2014/main" id="{4D0A00FC-C9F0-6DF2-93D6-C9A2E7FA6A97}"/>
              </a:ext>
            </a:extLst>
          </p:cNvPr>
          <p:cNvSpPr/>
          <p:nvPr/>
        </p:nvSpPr>
        <p:spPr>
          <a:xfrm rot="10800000">
            <a:off x="4299240" y="7786416"/>
            <a:ext cx="359352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Proetus simulation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E7D9F8-DEAA-7E98-1153-65796948B9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2629499" y="-5686086"/>
            <a:ext cx="6932999" cy="389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3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21000">
              <a:srgbClr val="FF0000"/>
            </a:gs>
            <a:gs pos="67000">
              <a:srgbClr val="090D13"/>
            </a:gs>
            <a:gs pos="100000">
              <a:srgbClr val="090D13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CCC6DF-F21F-80EB-FF18-3A6DBDF0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40" y="1603057"/>
            <a:ext cx="9342120" cy="5254943"/>
          </a:xfrm>
          <a:prstGeom prst="rect">
            <a:avLst/>
          </a:prstGeom>
        </p:spPr>
      </p:pic>
      <p:sp useBgFill="1">
        <p:nvSpPr>
          <p:cNvPr id="8" name="مستطيل: زوايا مستديرة 34">
            <a:extLst>
              <a:ext uri="{FF2B5EF4-FFF2-40B4-BE49-F238E27FC236}">
                <a16:creationId xmlns:a16="http://schemas.microsoft.com/office/drawing/2014/main" id="{41F349A9-FCA3-3A36-70AD-549EF1AEC965}"/>
              </a:ext>
            </a:extLst>
          </p:cNvPr>
          <p:cNvSpPr/>
          <p:nvPr/>
        </p:nvSpPr>
        <p:spPr>
          <a:xfrm>
            <a:off x="4299240" y="404446"/>
            <a:ext cx="359352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Proetus simulation</a:t>
            </a:r>
          </a:p>
        </p:txBody>
      </p:sp>
      <p:pic>
        <p:nvPicPr>
          <p:cNvPr id="12" name="صورة 16">
            <a:extLst>
              <a:ext uri="{FF2B5EF4-FFF2-40B4-BE49-F238E27FC236}">
                <a16:creationId xmlns:a16="http://schemas.microsoft.com/office/drawing/2014/main" id="{3DE38393-DE36-3E2A-873F-700BEBF2E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493" y="5624940"/>
            <a:ext cx="6945013" cy="4628851"/>
          </a:xfrm>
          <a:prstGeom prst="rect">
            <a:avLst/>
          </a:prstGeom>
        </p:spPr>
      </p:pic>
      <p:pic>
        <p:nvPicPr>
          <p:cNvPr id="14" name="صورة 10">
            <a:extLst>
              <a:ext uri="{FF2B5EF4-FFF2-40B4-BE49-F238E27FC236}">
                <a16:creationId xmlns:a16="http://schemas.microsoft.com/office/drawing/2014/main" id="{27450879-FE88-213A-F5A1-F3F356492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493" y="-3025793"/>
            <a:ext cx="6945013" cy="4628850"/>
          </a:xfrm>
          <a:prstGeom prst="rect">
            <a:avLst/>
          </a:prstGeom>
          <a:effectLst>
            <a:outerShdw blurRad="88900" dist="50800" dir="5400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9709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صورة 10">
            <a:extLst>
              <a:ext uri="{FF2B5EF4-FFF2-40B4-BE49-F238E27FC236}">
                <a16:creationId xmlns:a16="http://schemas.microsoft.com/office/drawing/2014/main" id="{472993E7-D0A2-7D43-2742-E9A565A8B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485" y="971850"/>
            <a:ext cx="6945013" cy="4628850"/>
          </a:xfrm>
          <a:prstGeom prst="rect">
            <a:avLst/>
          </a:prstGeom>
          <a:effectLst>
            <a:outerShdw blurRad="889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139E1F98-61CE-D762-E400-1140C52F1AC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2585502" y="1327260"/>
            <a:ext cx="6945013" cy="4628851"/>
          </a:xfrm>
          <a:prstGeom prst="rect">
            <a:avLst/>
          </a:prstGeom>
          <a:effectLst>
            <a:outerShdw dir="5400000" sx="1000" sy="1000" algn="ctr" rotWithShape="0">
              <a:schemeClr val="tx1"/>
            </a:outerShdw>
          </a:effectLst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81620D2B-A700-8A5B-CCC2-435979E10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3493" y="1327260"/>
            <a:ext cx="6945013" cy="4628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CF2B00-D6F0-AE71-D878-A5E9E76EB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673499" y="9188154"/>
            <a:ext cx="6932999" cy="3899812"/>
          </a:xfrm>
          <a:prstGeom prst="rect">
            <a:avLst/>
          </a:prstGeom>
        </p:spPr>
      </p:pic>
      <p:sp useBgFill="1">
        <p:nvSpPr>
          <p:cNvPr id="7" name="مستطيل: زوايا مستديرة 34">
            <a:extLst>
              <a:ext uri="{FF2B5EF4-FFF2-40B4-BE49-F238E27FC236}">
                <a16:creationId xmlns:a16="http://schemas.microsoft.com/office/drawing/2014/main" id="{E57AB0AB-C7BB-66D9-CDF8-4B19CD143C92}"/>
              </a:ext>
            </a:extLst>
          </p:cNvPr>
          <p:cNvSpPr/>
          <p:nvPr/>
        </p:nvSpPr>
        <p:spPr>
          <a:xfrm rot="10800000">
            <a:off x="4337231" y="-2206851"/>
            <a:ext cx="3593520" cy="604135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  <a:effectLst>
            <a:innerShdw blurRad="254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bIns="182880" rtlCol="1" anchor="ctr"/>
          <a:lstStyle/>
          <a:p>
            <a:pPr algn="ctr" rtl="1"/>
            <a:r>
              <a:rPr lang="en-US" sz="4000" baseline="-25000" dirty="0">
                <a:solidFill>
                  <a:schemeClr val="tx1"/>
                </a:solidFill>
              </a:rPr>
              <a:t>Proetus simulation</a:t>
            </a:r>
          </a:p>
        </p:txBody>
      </p:sp>
    </p:spTree>
    <p:extLst>
      <p:ext uri="{BB962C8B-B14F-4D97-AF65-F5344CB8AC3E}">
        <p14:creationId xmlns:p14="http://schemas.microsoft.com/office/powerpoint/2010/main" val="2049007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613E4-B704-24F7-AF18-548814E6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صورة 10">
            <a:extLst>
              <a:ext uri="{FF2B5EF4-FFF2-40B4-BE49-F238E27FC236}">
                <a16:creationId xmlns:a16="http://schemas.microsoft.com/office/drawing/2014/main" id="{ECD5DA28-7F66-7952-54B2-E97C72052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485" y="57450"/>
            <a:ext cx="6945013" cy="4628850"/>
          </a:xfrm>
          <a:prstGeom prst="rect">
            <a:avLst/>
          </a:prstGeom>
          <a:effectLst>
            <a:outerShdw blurRad="889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38668F5C-4056-A680-F4A3-2B78B74474D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2585502" y="355710"/>
            <a:ext cx="6945013" cy="4628851"/>
          </a:xfrm>
          <a:prstGeom prst="rect">
            <a:avLst/>
          </a:prstGeom>
          <a:effectLst>
            <a:outerShdw dir="5400000" sx="1000" sy="1000" algn="ctr" rotWithShape="0">
              <a:schemeClr val="tx1"/>
            </a:outerShdw>
          </a:effectLst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ACC1D34E-502D-0B8D-62E0-9C4F098B2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3493" y="1727310"/>
            <a:ext cx="6945013" cy="4628851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2E770C9D-5E31-121D-9C78-9A295EB4A9A3}"/>
              </a:ext>
            </a:extLst>
          </p:cNvPr>
          <p:cNvSpPr txBox="1"/>
          <p:nvPr/>
        </p:nvSpPr>
        <p:spPr>
          <a:xfrm>
            <a:off x="7205223" y="3780125"/>
            <a:ext cx="29959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dirty="0"/>
              <a:t>Eng\ Ahmed Azab</a:t>
            </a:r>
            <a:endParaRPr lang="ar-EG" sz="2800" dirty="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118752B5-3D64-7558-5394-3D5AFB824A88}"/>
              </a:ext>
            </a:extLst>
          </p:cNvPr>
          <p:cNvSpPr txBox="1"/>
          <p:nvPr/>
        </p:nvSpPr>
        <p:spPr>
          <a:xfrm>
            <a:off x="1990846" y="3780125"/>
            <a:ext cx="3452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2800" dirty="0"/>
              <a:t>Eng\ Ziad </a:t>
            </a:r>
            <a:r>
              <a:rPr lang="en-US" sz="2800" dirty="0" err="1"/>
              <a:t>Elmekawy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92204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gt.TF03457452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03457452" id="{2556320F-67B3-4912-BDBA-8BE8B0B065C7}" vid="{AF5AAC64-FF89-404F-84EF-4249900C5AD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{3C3E0387-6BDC-4E75-93CE-4F785D5DDA30}tf03457452_win32</Template>
  <TotalTime>1790</TotalTime>
  <Words>527</Words>
  <Application>Microsoft Office PowerPoint</Application>
  <PresentationFormat>Widescreen</PresentationFormat>
  <Paragraphs>135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Light</vt:lpstr>
      <vt:lpstr>Arial</vt:lpstr>
      <vt:lpstr>Calibri</vt:lpstr>
      <vt:lpstr>Calibri Light</vt:lpstr>
      <vt:lpstr>Century</vt:lpstr>
      <vt:lpstr>Times New Roman</vt:lpstr>
      <vt:lpstr>tgt.TF03457452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Elsanhoury</dc:creator>
  <cp:lastModifiedBy>Ibrahim Elsanhoury</cp:lastModifiedBy>
  <cp:revision>17</cp:revision>
  <dcterms:created xsi:type="dcterms:W3CDTF">2025-04-24T07:58:23Z</dcterms:created>
  <dcterms:modified xsi:type="dcterms:W3CDTF">2026-09-16T00:10:59Z</dcterms:modified>
</cp:coreProperties>
</file>